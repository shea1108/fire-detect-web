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70" r:id="rId3"/>
    <p:sldId id="271" r:id="rId4"/>
    <p:sldId id="274" r:id="rId5"/>
    <p:sldId id="275" r:id="rId6"/>
    <p:sldId id="277" r:id="rId7"/>
    <p:sldId id="278" r:id="rId8"/>
    <p:sldId id="276" r:id="rId9"/>
    <p:sldId id="308" r:id="rId10"/>
    <p:sldId id="279" r:id="rId11"/>
    <p:sldId id="280" r:id="rId12"/>
    <p:sldId id="281" r:id="rId13"/>
    <p:sldId id="282" r:id="rId14"/>
    <p:sldId id="310" r:id="rId15"/>
    <p:sldId id="309" r:id="rId16"/>
    <p:sldId id="286" r:id="rId17"/>
    <p:sldId id="288" r:id="rId18"/>
    <p:sldId id="290" r:id="rId19"/>
    <p:sldId id="291" r:id="rId20"/>
    <p:sldId id="284" r:id="rId21"/>
    <p:sldId id="285" r:id="rId22"/>
    <p:sldId id="306" r:id="rId23"/>
    <p:sldId id="261" r:id="rId24"/>
    <p:sldId id="307" r:id="rId25"/>
  </p:sldIdLst>
  <p:sldSz cx="12192000" cy="6858000"/>
  <p:notesSz cx="6858000" cy="9144000"/>
  <p:embeddedFontLst>
    <p:embeddedFont>
      <p:font typeface="Barlow" panose="00000500000000000000" pitchFamily="2" charset="0"/>
      <p:regular r:id="rId26"/>
      <p:bold r:id="rId27"/>
      <p:italic r:id="rId28"/>
      <p:boldItalic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iCiel Gotham Medium" pitchFamily="50" charset="0"/>
      <p:regular r:id="rId34"/>
    </p:embeddedFont>
    <p:embeddedFont>
      <p:font typeface="iCiel Gotham Ultra" pitchFamily="50" charset="0"/>
      <p:regular r:id="rId35"/>
    </p:embeddedFont>
    <p:embeddedFont>
      <p:font typeface="K2D" panose="020B0604020202020204" charset="-34"/>
      <p:regular r:id="rId36"/>
      <p:bold r:id="rId37"/>
      <p:italic r:id="rId38"/>
      <p:boldItalic r:id="rId39"/>
    </p:embeddedFont>
    <p:embeddedFont>
      <p:font typeface="Readex Pro" panose="020B0604020202020204" charset="-78"/>
      <p:regular r:id="rId40"/>
      <p:bold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5CAA"/>
    <a:srgbClr val="CCFFFF"/>
    <a:srgbClr val="00AFEF"/>
    <a:srgbClr val="FFFFFF"/>
    <a:srgbClr val="27ACE3"/>
    <a:srgbClr val="1F5CA9"/>
    <a:srgbClr val="F2F2F2"/>
    <a:srgbClr val="000000"/>
    <a:srgbClr val="D9D9D9"/>
    <a:srgbClr val="BABA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31" autoAdjust="0"/>
    <p:restoredTop sz="94660"/>
  </p:normalViewPr>
  <p:slideViewPr>
    <p:cSldViewPr snapToGrid="0">
      <p:cViewPr varScale="1">
        <p:scale>
          <a:sx n="47" d="100"/>
          <a:sy n="47" d="100"/>
        </p:scale>
        <p:origin x="77" y="7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16.fntdata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 dirty="0"/>
              <a:t>TIÊU ĐỀ CHÍNH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1" y="682737"/>
            <a:ext cx="1061859" cy="1062060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0C3C4B-7EB0-A799-EF60-7E7B2A1A5D7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5889A1F-7953-5C39-8687-FF30BEEED6A0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2EFB534-7696-D26C-4ED3-9370C4BF548C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CEBF6C9-F2A0-D7EA-46F2-E2BED25E4EEB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FC287AC-3830-D280-1DFB-099F1C622F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61D4A3-C96E-946C-BF56-14B0317E483A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FDF354-0251-FE65-2C5F-25380E57F03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6B934B-7F60-9EFE-CEAF-A531BBACD851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AF9606-2A17-830C-304D-88D56EDB1C47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ADAA7A-04F6-2616-50B0-A84AF6F98FE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BF1CC2D-4F33-60C3-D015-EE4B3346464B}"/>
              </a:ext>
            </a:extLst>
          </p:cNvPr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1C43A459-4626-2124-180B-282157DA3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7/1/2025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386F145B-841B-1EA7-87E9-B007B9A54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85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rgbClr val="0070C0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rgbClr val="0070C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1" y="682679"/>
            <a:ext cx="1061859" cy="1062177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0AFEF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F92E844-1828-0F51-3BFD-DF527D65BF8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0BC67-81A5-AC24-0BB4-9D1D3E835D94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AE1EA0-6222-87BA-38C9-866FE8F2830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C606771-B50F-5EF5-AF4C-183C88EEC70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A8AD8D-BBBE-FFAE-563D-62AF760A44A6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F63336F-2FD5-E8B2-B179-80665CF8D4BA}"/>
              </a:ext>
            </a:extLst>
          </p:cNvPr>
          <p:cNvSpPr txBox="1"/>
          <p:nvPr userDrawn="1"/>
        </p:nvSpPr>
        <p:spPr>
          <a:xfrm>
            <a:off x="10529591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A62A7F-4A0D-8203-BB6A-E6AFE62BD36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649E161-4DC5-D15C-6DAE-AE38C664B5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7/1/2025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DD46289-EAED-BF63-CD78-95A65C49B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9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no logo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686872"/>
            <a:ext cx="11205713" cy="2200204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2887077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3947960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3805958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948C5E-76A7-F702-69DB-282464E7764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456AD05-D0D5-B566-5464-905D6E126C9B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39BB277-D677-7122-583C-E2DA058F670A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FE1A5C2-1028-7EF7-EC88-4F04EC7380D2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542C0C7-F574-E38A-4EB3-08F7967A55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09D78DE-4DE3-2990-85E4-786FD52314B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A8D337-520D-D86F-59BE-49A69B9FFC6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674FC1A-E55F-C03B-647D-62C9D227489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F77203-FB16-225E-E2AD-E6F5BFB29DF4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9832108-B491-0ED9-0209-DCDB4B879444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E3B44A9-629A-9AFC-6A18-1288714D7213}"/>
              </a:ext>
            </a:extLst>
          </p:cNvPr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47E8952C-C96D-E1CF-68EF-C321F55822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7/1/2025</a:t>
            </a:fld>
            <a:endParaRPr lang="en-US"/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43BEA4F-EC22-DCD8-2D07-6E96C6A77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5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 P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rgbClr val="00AFEF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66" y="2942152"/>
            <a:ext cx="292100" cy="2921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3CFF9A2-77A5-DDEE-8CD5-81FBB071FF6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E020D5-F981-3E97-FE5E-ADF3F5D5D67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6F97B9-1D92-F527-C77C-03A8413842F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461B76C-9BE8-353C-CE4F-D68CC621DEA4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BD53315-09D7-5756-C6C6-55FFDDCFE13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A79C1E-4CE5-9C79-D05A-E661FD9C1020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17A207F-A3E9-4918-9A39-6AFD5C75AE2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41CAD55-C718-D746-6C4B-AC27D7F9E3C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52AF38-7C96-9660-E7DF-32022B50406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98B8E65-85EA-EDA7-0D26-FAB09CE576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7/1/2025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6AC2544-66BB-6379-48DA-83F16247F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9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ue Background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chemeClr val="bg1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66" y="2914650"/>
            <a:ext cx="364657" cy="36465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0407ADE-1691-B221-3DBE-A0668F67DFA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34C1E1A-F6EE-479B-62C5-AAA2AF44D763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CF4A6C1-BB6F-E2E1-2B44-FAD2A1B1382F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C836B12-C2E7-7458-8EEF-C0E54C0712FC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02B1A35-3625-44F2-B450-96259B3697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497A08-099F-1B3E-194B-4232B1D060A8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5BAB25-FCB5-FAAB-5765-8D4ACA9B26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09F01B-7545-EE0B-CCDB-EA38604EB38F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B09E43-1817-D52E-1B93-2D03B69FBBF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340A8E4-7C5F-7F57-1FD7-2B62EB3A0CA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1401AA1-7975-3594-DC27-3B15A19D2BF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86A1549-5E94-2A55-30E3-4C7A2D1E807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698C5B0-03A7-5383-3EC8-3710BCD5581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E419B5B-7A9D-F950-9502-52863B4171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7/1/2025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4DAFEAD-AB29-262E-41C9-C3201759F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4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DEB5E8B-9D80-CFB1-EDED-87ECE2CB2B8A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F6291E-292F-647B-E93F-CCF3BD97EF4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72A86A-A3D6-70DE-0206-BB773A44427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AF733AF-6C3E-C1DE-BF08-4108C35CB05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AB7700C-E55C-27FB-89BF-E9B044E9EC3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A9A2E08-C471-6D85-4D71-8B7583F204F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08275F7-17A7-2357-D01F-B5A5E3884CF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BC96F8B-987B-47C3-DC48-3B2EC5C98BF8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7A3534-0713-475D-C6A5-307770CE20B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EB70784-4611-F5A4-7D58-DD378AF3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7/1/2025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87628174-E628-DF34-7A10-83FDFC5D1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3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CEE1D6-0A80-8A7D-310B-2F6B434F47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C110D58-C7C9-AD78-555F-33E02058DAF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81B152-BF7B-A150-5A99-2B451EC38D47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759768-9879-1B7A-B5FA-0DCEFE74D51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889155-4A4A-8DED-164F-8A56C00B8F9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5096035-4D5E-EF98-4374-6099861A66F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792706-2488-D26C-C54B-F6881C86D05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F36761B-1C8C-2A9C-97D2-FD722A844AE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BA4366D-2C0B-5E27-DC28-A877427191A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538E5B-E5A0-69DD-94F0-C506BC4743B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709C7B13-13FD-9548-48BE-5821DF0AAE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7/1/2025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283063C-B225-E607-FC11-4C67B2273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58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- Placeholde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B71F910-DD42-8802-386F-AA27E891E3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514350" y="1125114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14348" y="2885650"/>
            <a:ext cx="4467229" cy="224454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 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5667375" y="1125114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E269295-E313-A799-7125-41D39E39DAF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4B895D-114D-C9C2-A547-220F39E95B3A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61B30F-7B6D-78FB-BD6E-E34AD607BE56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27F6DF5-10A9-DC42-E1E9-D1FA91D6BBF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1959BFF-8A0A-B338-A74E-37D7F5CED4D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E9E1AD-2113-53D7-8783-10A60D93296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E1424EB-91CE-59BF-400F-9BCF3A182E6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99800F-88A1-1EF2-673A-E19EDD4D12A2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FA7C85-7A63-3F94-A6E0-51FBFB0A621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39E5B1EA-BE1C-22C4-8140-1FF7F085C8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7/1/2025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3F5244F-399D-4048-0258-1C4D4345F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97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holder Left - Titl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036A66E2-7787-687B-3553-97FAF9109C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6737350" y="1332588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737348" y="3093124"/>
            <a:ext cx="4467229" cy="2192339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624706" y="1332588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473B34E-C5A1-D7E2-C692-BFBE5EBD6AC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1CFE12-2689-2DB3-6CB8-E6D662CAE886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6B0CF2-5878-8045-7665-76673B4F71AB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6C447DE-39C2-0CF7-466F-6F936D0397D6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B166D7-5532-DFCC-4719-A557C504B8F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B618045-F14E-9F31-0FA0-0532F46BF46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F28839-2BBD-09C4-84D8-C7BD82D44B55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CD9E80B-3CE1-773E-29BB-8B95E6D4543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CA3E05-765A-20DC-76C7-1BB18527C02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D2971456-C6D4-0F38-6B9E-1F35DDA6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7/1/2025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3720CF9-36DD-EAE0-4DFF-B34E1D725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09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787900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626100" y="1109534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26098" y="2870070"/>
            <a:ext cx="5959480" cy="2502381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4787899" y="0"/>
            <a:ext cx="116779" cy="685800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106" y="241300"/>
            <a:ext cx="292100" cy="2921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666FBEF-96D4-A728-F979-1B9E3C584618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E8E8DD-CE54-0055-2BF7-151D57DF8BD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72301E-8D74-6168-3E37-23F22C232E8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F16EF-BF90-0E2D-8C37-9F7F65B32C5A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4C6974A-DD6E-7CB5-8FD4-600450267DC0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6196367-A723-A537-EB98-81ACB69748F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466BEA6-14C4-AF23-E4A2-9D451D536F0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8362F22-F1FE-F284-D164-71325E2FE29A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2A85AC-B7B7-482A-12B3-980D59815F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F6D7656-F800-D94D-225F-EDD3105509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7/1/2025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7D4C748E-C498-F3D1-FA1A-8DE0452D3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93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F9E864A0-20A2-BDEB-4706-A5E83DDFA4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700000">
            <a:off x="781863" y="1310095"/>
            <a:ext cx="3916148" cy="3910374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575300" y="769938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75298" y="2530474"/>
            <a:ext cx="5959480" cy="3550350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A90EEE0-CD8C-2ACB-25F9-50BB8997F9B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8976" y="127568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DDDAF3A5-8C80-403E-4204-D45A798228F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8976" y="3365543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1442A5B8-CFC4-5FD2-2AD5-A6E2BE31C3D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032811" y="1752381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8BE5A7E-5F20-6A38-5D19-14DA476864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776" y="2393663"/>
            <a:ext cx="1716960" cy="1717475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9D97C13-D91F-4682-B432-81FF1B14B495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84DFD5-27A7-C363-7007-2DC193A3EAF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16999E-E9FF-973E-7101-9B1C41997646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66026A7-B4F0-EAA7-6E24-26FFBCA763F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FF0E9D6-6802-7688-2B57-6C08D5DA59C9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E658449-E3D8-FD81-A0DE-693514AECD38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3B45509-564D-FF36-7D23-E19C5706B85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34F2291-6314-C1AD-04AC-4C2F36AFBCE5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D81222-A6F3-0F0F-54F8-3440A58FEE7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5F7985F-5BDC-B2DF-EE61-A86912B6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7/1/2025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3C7577-EE0C-2234-C1BF-DA9C643EE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1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>
          <a:xfrm>
            <a:off x="170156" y="134614"/>
            <a:ext cx="3918888" cy="6192390"/>
            <a:chOff x="125766" y="134614"/>
            <a:chExt cx="3918888" cy="619239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25766" y="134614"/>
              <a:ext cx="3918888" cy="54884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3332" y="2190750"/>
            <a:ext cx="3335867" cy="376152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3333" y="481807"/>
            <a:ext cx="3335866" cy="1570038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210050" y="1233577"/>
            <a:ext cx="7685088" cy="4882552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565" y="285479"/>
            <a:ext cx="457200" cy="4572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55DA46C-D8B6-7CFC-66B8-7CB0661BDC50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20D40A-2E3B-C7A9-C896-AB297CD1D502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772D73-D33F-3CF1-F2EC-3AB49AB0A3E2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3B7BB71-C74C-F574-53FD-686AF1FFDDB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F3CACD-6A80-FFA4-A1A8-D43F712955F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FAEB09F-CD5E-7ADC-1B2F-8965E3D7128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F64E0D-6262-6968-C324-91B0C29DAE2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6ACF565-7282-52D8-2F87-9979EB7D22E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EB52C3-46A3-8597-EB48-A059B972B6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417CD2D-3662-2AA5-03DA-B7DB71FD4D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7/1/2025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176764BE-F724-71A0-BE05-2D8CD35F4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62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To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134613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91250" y="465934"/>
            <a:ext cx="5229225" cy="1634339"/>
          </a:xfrm>
        </p:spPr>
        <p:txBody>
          <a:bodyPr wrap="square">
            <a:no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4705" y="3223632"/>
            <a:ext cx="4928369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25089" y="438150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24706" y="3062972"/>
            <a:ext cx="4927984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DE2B706-8307-6ED5-F877-389B0B2979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466" y="2644402"/>
            <a:ext cx="3453753" cy="340239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15" y="2177429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5B4C324-3C81-EE05-863B-0BFD10068AD0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C62863-B89C-435F-F151-714E85DDC0D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D858D0-591A-DB7C-B0CF-EC5885EF6AA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1B9E2AA-8C7B-B434-371B-D07F8E42BC7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E048CFE-B19B-7653-369A-1274DDC6A672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B54DA6-059E-42E3-D2C2-7CC236D17F7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478C257-C905-714F-8D36-7C4FEA7B101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171E3B6-9344-8EA5-ECCC-B4E2DB489CB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4D2815-B553-E7E3-A420-642D631F850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43C1B86-79CD-A2B3-901F-0E811E86BC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7/1/2025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01990695-EF78-6AB0-E960-0608F2EF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55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Bot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3979538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1485" y="4229011"/>
            <a:ext cx="5229225" cy="163433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69891" y="811935"/>
            <a:ext cx="5229225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720704" y="2860675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720704" y="2772120"/>
            <a:ext cx="4928369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CD997C6-547B-2702-8F85-89942F1AB1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842" y="373388"/>
            <a:ext cx="3453753" cy="340239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2467" y="3759764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AF876A1-6B11-6FF8-2D84-015F96056B1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CA6408-9D66-09C4-41AB-00CC1729D30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0018DF-49AD-91F7-0DB0-C9BC1261979F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0C13370-E7EC-678E-BD5A-DB77AAE1330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4E15444-C65B-BCB2-0C08-2D44E08572B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52101A3-77ED-E52F-5EB8-690B6987CDF4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7794B63-DFC9-1FBB-688F-B4BDE18353AD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970B167-68C8-83AC-0439-E32E52CA290E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62CD55A-1C1C-F2FF-326E-E4EDF096096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2106D705-167D-4957-B052-389F58C3C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7/1/2025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4B50CB5C-9421-8092-B746-31E9C2FB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4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Inform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580549"/>
            <a:ext cx="12192000" cy="107901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01972" y="3856819"/>
            <a:ext cx="7445428" cy="2304603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rgbClr val="00000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Các thông tin cá nhân có liên quan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03437" y="2747660"/>
            <a:ext cx="7443963" cy="90440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Nhấn vào để chỉnh sửa tên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2584938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Ảnh bìa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64144" y="1144291"/>
            <a:ext cx="2601302" cy="260604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Avatar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3631224" y="3726827"/>
            <a:ext cx="1820007" cy="45719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348756" y="4679980"/>
            <a:ext cx="1574800" cy="1589422"/>
          </a:xfrm>
        </p:spPr>
        <p:txBody>
          <a:bodyPr anchor="ctr" anchorCtr="1"/>
          <a:lstStyle>
            <a:lvl1pPr marL="0" indent="0">
              <a:buNone/>
              <a:defRPr baseline="0">
                <a:latin typeface="K2D" panose="00000500000000000000" pitchFamily="2" charset="-34"/>
              </a:defRPr>
            </a:lvl1pPr>
          </a:lstStyle>
          <a:p>
            <a:r>
              <a:rPr lang="en-US"/>
              <a:t>Mã QR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8399B61-C397-6E24-154B-55AEE91F31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319" y="3749686"/>
            <a:ext cx="2513362" cy="247598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872" y="3047462"/>
            <a:ext cx="292100" cy="2921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78885C0-D685-8BA1-0334-F39B9B68D71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DF714-887C-B1B4-0544-F3318FB9360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5B2670-DCDB-9912-43A9-DB6F7732594F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0719D13-9667-D80B-8E63-2EAE238785E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D5820E4-D785-554F-4A26-439F94DC39CB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2173FE2-FAF0-8CC7-CB52-0A02CAB31B9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C9A41C-6FE6-99FD-63A0-4F13214472F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E355810-09A4-7711-CAE0-3B52F9B0F7A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FD61F0-56D5-64BF-42C1-A40A09A1EC8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D9E8BE1-8359-B3EB-76B9-E21898BB11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7/1/2025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8313AA7-7AE7-BBBB-D161-E7992A58C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0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6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1</a:t>
            </a:r>
            <a:endParaRPr lang="en-US" dirty="0"/>
          </a:p>
        </p:txBody>
      </p:sp>
      <p:sp>
        <p:nvSpPr>
          <p:cNvPr id="15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839788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6308727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2</a:t>
            </a:r>
            <a:endParaRPr lang="en-US" dirty="0"/>
          </a:p>
        </p:txBody>
      </p:sp>
      <p:sp>
        <p:nvSpPr>
          <p:cNvPr id="23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6308726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A9BD5AE-860A-11DA-EDCF-22268C7C9A8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50682-E7A5-4FC0-F3BE-BB9A232438A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9D63CC-5B2D-403A-2D8D-77E5D2B6108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5D36C9-D247-9D20-3BF2-F3349DFE29EF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3E65D7-4824-ED09-532B-9FC7698CEF8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6AB20A-6E3F-4D3A-66A0-FB26AD4A104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4847801-603B-FBC5-F985-AE9459E3CD4E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8F14B01-E23B-BFC7-B317-7E21D60D518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56432E-6829-4DE3-60A2-6B8BBDC6B4B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187C7D7A-D6B4-F348-B4E4-CA33AB53AD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7/1/2025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19648BD2-EBDF-9F5F-296A-DFCA3F0BF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741487" y="465301"/>
            <a:ext cx="36576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0" i="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678998" y="465301"/>
            <a:ext cx="3571623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18" name="Picture Placeholder 5"/>
          <p:cNvSpPr>
            <a:spLocks noGrp="1"/>
          </p:cNvSpPr>
          <p:nvPr>
            <p:ph type="pic" sz="quarter" idx="15" hasCustomPrompt="1"/>
          </p:nvPr>
        </p:nvSpPr>
        <p:spPr>
          <a:xfrm>
            <a:off x="8530533" y="474155"/>
            <a:ext cx="27432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7484734" y="3450874"/>
            <a:ext cx="3788999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6" hasCustomPrompt="1"/>
          </p:nvPr>
        </p:nvSpPr>
        <p:spPr>
          <a:xfrm>
            <a:off x="741485" y="3450874"/>
            <a:ext cx="64770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1D2F5E-B4B4-4F13-5B40-6B34D4077BF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28C786-22D7-B802-E1CD-F76CACF14CCC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47DAB2-9527-687A-8677-8F0D90CD784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F80466-9EFF-A73A-B6DE-D269BCE066A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3337E1-C74F-3AB9-3062-C33D866163B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12D348-DF45-A829-E72D-196DEC172D7E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A8F8196-C024-0B7C-46F7-739B24E5DBF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A860906-4DB7-35A0-12A0-880FE34D0611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D6CDF9-3E97-FB61-7CE7-3D09FA86D7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218C02C-39DB-9A5F-95CB-0C3CAB0832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7/1/2025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4506B3F-1DF2-A2B1-B917-52BD9BA9F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7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 userDrawn="1"/>
        </p:nvCxnSpPr>
        <p:spPr>
          <a:xfrm>
            <a:off x="60960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897765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6597297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898361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6597892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898257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6597788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27B2114-05AD-5B46-042A-74C2E1E114D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12D61D-E589-A35B-EEF9-9C42ABC105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A589A6-0D91-BA6C-6308-33240D74B74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A0B255F-3EA0-6316-1814-EA69B3A1C94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99C3888-223C-A47F-802D-E01AE026158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AAFDAA6-E7FA-2A32-DFA6-F90442ED860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4DC1B11-CA57-3325-DD06-C67EE58D7FC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8C3C485-7E6C-D1B8-B245-95DB0F954A97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B1F8E9-DA5B-DA41-D6FB-62DFDED23A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1B773FC-C6DB-8895-F8FB-AC357B5F1F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7/1/2025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ED3E9AD-AE54-8D77-117E-98F95DCE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42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9375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 baseline="0">
                <a:latin typeface="Readex Pro" pitchFamily="2" charset="-78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0386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8086459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4378402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8426261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5" hasCustomPrompt="1"/>
          </p:nvPr>
        </p:nvSpPr>
        <p:spPr>
          <a:xfrm>
            <a:off x="329912" y="3302000"/>
            <a:ext cx="3367088" cy="2613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4378402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8426260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4" name="Rectangle 23"/>
          <p:cNvSpPr/>
          <p:nvPr userDrawn="1"/>
        </p:nvSpPr>
        <p:spPr>
          <a:xfrm flipH="1" flipV="1">
            <a:off x="329374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4377232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8425090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A85175A-A5CA-FDCD-9D1E-D1E3A5C0861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72AE3C-B845-C37F-3FA3-517EBBCCD80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3C2B34-BC37-24CD-CCCC-86C84255F60D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A51EC-EB1C-A2F5-191D-39EC3871D7F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D16B55C-8A59-6B1B-682C-62AA2B73A47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FC2AAA9-0C7E-3269-988C-8B585C6196AD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92758D9-75FB-A297-C9B0-0046880A091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A0FD0A9-AA5C-7D0D-4E1D-5CCB189D948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2D20B6-C339-D112-86D5-A51948B07F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6D1D37C2-EC33-4641-5CD8-DBFCCC5A5A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7/1/2025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F9D2D5D-F42C-AD89-38B2-8E5862B86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908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4113213" y="-1449386"/>
            <a:ext cx="3965573" cy="105156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043EC71-5B9E-C0BC-1876-C8F7F39BC54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4374B3-12AF-4FD8-DEB7-27010168D059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BA7498-F3BC-86B3-1A69-799334B6D0C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C85D92-154D-811A-7CED-746E05BC993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1FF18A3-B64B-560A-0E4C-FAE23671DD1B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0087580-3DBD-8257-F1D1-7914462F84C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924CB2-D38F-D098-BA0D-F7AF3FD0DAE6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1944464-246D-1746-8383-CA6C986DD6C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6B468E-C03F-EA5D-3562-3CF0D836AD6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EDB08078-B43B-9900-A614-EDD1B700D3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7/1/2025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53B98CF-4D09-7334-F10E-AC2949398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1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lang="en-US" sz="3200" b="1" kern="120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1875631" y="-672303"/>
            <a:ext cx="5811837" cy="78867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981" y="51983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E9D4A31-78FB-C50E-E557-1D6A2AB1B39D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E77047-2D78-10EA-8B2B-464D363FDA7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B0BADC-EE2D-7AA3-FE84-68EB6BD21ECE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3A035-1495-F2B0-9581-76B6F74E68E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EFB4826-5D0F-51B0-8FB3-AF794F93FD9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DA189B-1ADB-AEB4-5954-98C27419F04D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D18312-4501-E052-78A4-D56485FF5E5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BFB8709-60EF-0C2D-7AE6-97383C28A99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513177-236E-9D57-556A-25BA2A08A56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AB60C45-18AD-EA2E-F8C7-09BC10A7EB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7/1/2025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06116A22-46CD-EA17-0317-B3A75C35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97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25583"/>
            <a:ext cx="10515600" cy="978408"/>
          </a:xfrm>
        </p:spPr>
        <p:txBody>
          <a:bodyPr/>
          <a:lstStyle>
            <a:lvl1pPr>
              <a:defRPr lang="en-US" sz="3200" b="1" kern="1200" baseline="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F628E4E-7D92-2696-C967-238AE8D192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CD306E5-CFB4-AF8E-362E-7264A2EE8FC3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E40D7E-4410-6230-80DF-9F48DDD5A2A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71A584-94A8-DB0F-72C3-58733380A872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63D15-A7C4-C136-3C34-D85D43DF91D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CA5ACA2-579F-CD83-86DA-E253A52172C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C5BCA61-C1DF-F935-9A58-6E188F2CB05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68E80D1-1F87-F099-C499-A6D08F0D1B7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7DD4F89-FFA6-2586-6CFF-BAD9CA9BBED0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ADDEC2-86AA-36BA-1460-FC4BE106E1D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0BAA20-270C-6BB8-126D-274EA4BC32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7/1/2025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E3DB167-B4F8-7DE2-3FE9-16BA7DFC4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5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B977A98-B16D-37D0-150B-AA6EC7793A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0AAABEF-0466-E8D9-7159-4498725EB23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5B4BC4-A4A2-B7AE-36B8-5F8601CBD24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3324B4-3F68-C3A0-CCD5-76223DA44378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CAF8661-5038-9FE1-BBA8-946867DADAB0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383C5A-EDBD-9F53-185B-2E7B394F3459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FA2C68B-0393-7A63-49AA-3FFE7FE14C7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0CA16E1-AF2D-D0AA-1F01-070BA884ACD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BCC7B34-3035-0952-6B45-935B76D988E3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7B063C-9DEE-224B-8FD3-B578122F70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A004C0A-B376-851D-1C1F-61573C0B97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7/1/2025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D28DB7B-FFF4-7151-C18D-3C7D5D9D8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690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1">
    <p:bg>
      <p:bgPr>
        <a:solidFill>
          <a:srgbClr val="1F5C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F29CC0-A8E3-7B26-83F7-23FD30C83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CA7CBBB-5BEC-4156-BB0B-762A1656305F}"/>
              </a:ext>
            </a:extLst>
          </p:cNvPr>
          <p:cNvSpPr/>
          <p:nvPr userDrawn="1"/>
        </p:nvSpPr>
        <p:spPr>
          <a:xfrm>
            <a:off x="135235" y="6474525"/>
            <a:ext cx="544432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E0175B-DA75-48B5-9D9D-69732B703EF5}"/>
              </a:ext>
            </a:extLst>
          </p:cNvPr>
          <p:cNvGrpSpPr/>
          <p:nvPr userDrawn="1"/>
        </p:nvGrpSpPr>
        <p:grpSpPr>
          <a:xfrm>
            <a:off x="205437" y="6454898"/>
            <a:ext cx="544432" cy="365125"/>
            <a:chOff x="119712" y="6454898"/>
            <a:chExt cx="544432" cy="36512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FADB430-7D50-4978-89C8-6C6EBBB3035E}"/>
                </a:ext>
              </a:extLst>
            </p:cNvPr>
            <p:cNvSpPr/>
            <p:nvPr userDrawn="1"/>
          </p:nvSpPr>
          <p:spPr>
            <a:xfrm>
              <a:off x="119712" y="6488235"/>
              <a:ext cx="544432" cy="298450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Slide Number Placeholder 5">
              <a:extLst>
                <a:ext uri="{FF2B5EF4-FFF2-40B4-BE49-F238E27FC236}">
                  <a16:creationId xmlns:a16="http://schemas.microsoft.com/office/drawing/2014/main" id="{7688F936-0D30-441F-BBA9-66AE32197B6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59150" y="6454898"/>
              <a:ext cx="465556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/>
                  </a:solidFill>
                  <a:latin typeface="Barlow" panose="00000500000000000000" pitchFamily="2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3E7A8FBE-F383-41C2-9A02-D1D86CE96726}" type="slidenum">
                <a:rPr lang="en-US" smtClean="0">
                  <a:latin typeface="K2D" panose="00000500000000000000" pitchFamily="2" charset="-34"/>
                </a:rPr>
                <a:pPr/>
                <a:t>‹#›</a:t>
              </a:fld>
              <a:endParaRPr lang="en-US">
                <a:latin typeface="K2D" panose="00000500000000000000" pitchFamily="2" charset="-34"/>
              </a:endParaRPr>
            </a:p>
          </p:txBody>
        </p:sp>
      </p:grp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4F36C960-0DDB-40F7-96C6-0E5E092E47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548263"/>
            <a:ext cx="2743200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7/1/2025</a:t>
            </a:fld>
            <a:endParaRPr lang="en-US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EB56B231-F846-4811-B632-4AB4BAA9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250632-77FB-405A-BBE8-9981579CE7EF}"/>
              </a:ext>
            </a:extLst>
          </p:cNvPr>
          <p:cNvSpPr txBox="1"/>
          <p:nvPr/>
        </p:nvSpPr>
        <p:spPr>
          <a:xfrm>
            <a:off x="817685" y="6410864"/>
            <a:ext cx="2760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baseline="0">
                <a:solidFill>
                  <a:schemeClr val="bg1"/>
                </a:solidFill>
                <a:latin typeface="K2D" panose="00000500000000000000" pitchFamily="2" charset="-34"/>
              </a:rPr>
              <a:t>ĐẠI HỌC CẦN THƠ</a:t>
            </a:r>
            <a:endParaRPr lang="en-US" sz="1400" b="1">
              <a:solidFill>
                <a:schemeClr val="bg1"/>
              </a:solidFill>
              <a:latin typeface="K2D" panose="00000500000000000000" pitchFamily="2" charset="-3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F06559-0D08-475B-BB2B-C2AD79E1EA9A}"/>
              </a:ext>
            </a:extLst>
          </p:cNvPr>
          <p:cNvSpPr txBox="1"/>
          <p:nvPr userDrawn="1"/>
        </p:nvSpPr>
        <p:spPr>
          <a:xfrm>
            <a:off x="10536385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A2DBFB6-FB51-4349-AD79-DB5E3B289A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02785" y="6488354"/>
            <a:ext cx="9336024" cy="1182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3741078-A544-42D3-8CE7-5F2F115BABE0}"/>
              </a:ext>
            </a:extLst>
          </p:cNvPr>
          <p:cNvSpPr txBox="1"/>
          <p:nvPr userDrawn="1"/>
        </p:nvSpPr>
        <p:spPr>
          <a:xfrm>
            <a:off x="817685" y="6599210"/>
            <a:ext cx="1922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rPr>
              <a:t>Cộng đồng – Toàn diện – Ưu việt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eadex Pro" pitchFamily="2" charset="-78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C7F682-0100-EB65-9EF7-68F4E1527F64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B12206D-0D33-F7BF-D5C3-71176B0C507A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958F7DE-9367-1A7B-0471-C642F47C03A3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FF2EDA6-9276-E821-1BDA-7B118853E64D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46084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2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A39DEC0-0415-D667-18C3-EEA5AEBABE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74BF315-D1FC-6421-060B-3FFD387F1B1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2D3478F-4D6B-F3FC-93EE-781955B168ED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30E6027-7A58-80A0-C4DE-BD292242A19B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C39217D-11B2-EC58-7DB9-670BADCEC0E6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69E2A5B-C398-3A54-39BB-1A10AD77A4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40C400F-3AEE-5C28-4A10-78CBA14078B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A79BBA-69C1-570D-F28E-9BB9C6ACBEC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C30C32-8749-8F9D-AFB9-200DC55D9965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36664E3-F587-5BFA-8277-C0DDF1B0FB4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F36890-856E-2F7B-8E55-A33B790D7C1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3B2CBB7-80CC-0503-06CA-B293272E754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49DC9B-DB28-1334-ACD6-A7837974CC5D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896B089-ECA6-A22E-B1B3-DEA30DA3A29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3CA8C4BA-A884-9E59-FFE3-0B919D005D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7/1/2025</a:t>
            </a:fld>
            <a:endParaRPr lang="en-US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79B8DE1D-7394-99A3-7495-C14CDDA1E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72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2262706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19450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6F8249F-933F-27B4-037F-1BE57AC729C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2D8527-F93B-EB58-7740-2C078C40D098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2B52FF-C488-9746-1718-20EBF7C6F69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1F8AA-07ED-7376-C0C8-2331E007AE3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98A477-5FFB-8A7A-8F05-0A80F04AEFB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1725ED5-67ED-5B9A-3DCA-1DE0F4C58341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E9266B7-33A3-424D-B662-BE0A9937A840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686A9F9-4156-B900-5857-6016C3E85FAB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0D5907-9052-863A-8BCC-EF17800E64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F2144C9-292D-3866-E801-4F565FEE1A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7/1/2025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9BEA6383-5223-C237-6EF3-C8B51BE5E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344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FDADA73C-32DA-6364-6627-ED34BFEF2D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247" y="1727802"/>
            <a:ext cx="3453753" cy="3402396"/>
          </a:xfrm>
          <a:prstGeom prst="rect">
            <a:avLst/>
          </a:prstGeom>
        </p:spPr>
      </p:pic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5868547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825291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400175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3160711"/>
            <a:ext cx="5153026" cy="1839914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005A496-97A9-F2E6-5A93-82ED29991805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5E9CB3-D945-22DB-F3B1-01E643966ACF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D6A3BA-05EA-D4A6-D520-6A0BBE9ACFC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1D0D4-C58F-2943-9F96-7367FEA221D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313E83-E883-5D3C-7410-B094E1918C1E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D148F3C-F670-4585-6238-F7F73412182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D5B6593-3DAF-E642-22A3-B33B2E999E0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612E298-D721-FB54-E8B1-308FB365446A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DE4871-7678-DA84-8689-2F27B59205B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613E948E-49EF-8C4E-0898-E98F72B6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7/1/2025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35A65652-1FC1-56DE-41BF-70B7E317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95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B96C117-0DD7-57D2-DF3E-3C0A174E03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0" name="Picture 2" descr="Samsung Mobile Mockup Template Download on Pngtree | Mobile mockup, Samsung  mobile, Samsu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75" y="657226"/>
            <a:ext cx="4972049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8305800" y="1057275"/>
            <a:ext cx="2095500" cy="4038600"/>
          </a:xfrm>
          <a:prstGeom prst="roundRect">
            <a:avLst>
              <a:gd name="adj" fmla="val 4741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F5E8B0A-35A9-1D4F-DB19-BE07791E78F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DE1F6B-3A1F-F4AA-B616-B69C903A909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A17A55-6967-1E8F-7303-5303CBD602A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4F218F-2B5C-5125-3565-DD9470D6775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5F21373-8291-8606-349F-C9D37F7F42EA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890A1A8-07D6-CC23-110F-A4349C95D83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4B2C4FA-6364-1259-35B8-B7538FBAB89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298D622-19A9-9C4F-D8B3-A0B8BACFDA92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D19E43-BFD6-BAEA-5172-CB6E311691D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86DB862-383E-AC4E-53C8-05578489E4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7/1/2025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61406AB-9157-BB66-317E-91FF66767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49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id="{E6F05EB3-1A18-FFAB-87F4-C3B6F94C3D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943863" y="1011126"/>
            <a:ext cx="3171810" cy="513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5B58D15-E021-9409-2BF6-38B8662548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E05A38DB-2EAE-47C8-9F84-174DA202456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472C8C42-C792-4628-B171-1C30DA52BBD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EFF8FA1-B5A4-2A75-DF61-6155775A60B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28A97E-3A14-7BF0-D186-C53734F2598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894450-A56F-CB14-56CE-6BAB4A469F50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EDC2765-72E6-0900-A64B-07D9394DE1EE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972BBAE-9F84-4D92-5FC5-6BAC2EBBA3A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8EF8C-2CE8-32A2-4893-8A1F462F597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C64073C-92F4-B219-BB9F-D220B1F1317A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CDC2B2F-DD31-C057-140F-8607950C1220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D099AF-ADE0-F209-43E6-00047303FC9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9D6B138-607A-1698-333D-31B07D850C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7/1/2025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EC58AAA-3CCF-ABE2-A4E2-6851325D5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13" name="Picture Placeholder 1">
            <a:extLst>
              <a:ext uri="{FF2B5EF4-FFF2-40B4-BE49-F238E27FC236}">
                <a16:creationId xmlns:a16="http://schemas.microsoft.com/office/drawing/2014/main" id="{2E6D52DE-4D97-3181-9440-19E31A6CE81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61702" y="1108334"/>
            <a:ext cx="2131430" cy="4626572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15" name="Picture Placeholder 1">
            <a:extLst>
              <a:ext uri="{FF2B5EF4-FFF2-40B4-BE49-F238E27FC236}">
                <a16:creationId xmlns:a16="http://schemas.microsoft.com/office/drawing/2014/main" id="{88786B7F-DEAA-9BB7-8BD3-B3780EB61BC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255760" y="1200818"/>
            <a:ext cx="534445" cy="155541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630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00D1CE85-AA59-46D7-98F4-301D80B40614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B9B05A01-6F48-4D1A-BEA9-613C8F70D2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0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80" r:id="rId2"/>
    <p:sldLayoutId id="2147483679" r:id="rId3"/>
    <p:sldLayoutId id="2147483652" r:id="rId4"/>
    <p:sldLayoutId id="2147483653" r:id="rId5"/>
    <p:sldLayoutId id="2147483654" r:id="rId6"/>
    <p:sldLayoutId id="2147483677" r:id="rId7"/>
    <p:sldLayoutId id="2147483655" r:id="rId8"/>
    <p:sldLayoutId id="2147483656" r:id="rId9"/>
    <p:sldLayoutId id="2147483657" r:id="rId10"/>
    <p:sldLayoutId id="2147483678" r:id="rId11"/>
    <p:sldLayoutId id="2147483658" r:id="rId12"/>
    <p:sldLayoutId id="2147483659" r:id="rId13"/>
    <p:sldLayoutId id="2147483660" r:id="rId14"/>
    <p:sldLayoutId id="2147483661" r:id="rId15"/>
    <p:sldLayoutId id="2147483663" r:id="rId16"/>
    <p:sldLayoutId id="2147483666" r:id="rId17"/>
    <p:sldLayoutId id="2147483674" r:id="rId18"/>
    <p:sldLayoutId id="2147483673" r:id="rId19"/>
    <p:sldLayoutId id="2147483675" r:id="rId20"/>
    <p:sldLayoutId id="2147483676" r:id="rId21"/>
    <p:sldLayoutId id="2147483664" r:id="rId22"/>
    <p:sldLayoutId id="2147483665" r:id="rId23"/>
    <p:sldLayoutId id="2147483667" r:id="rId24"/>
    <p:sldLayoutId id="2147483668" r:id="rId25"/>
    <p:sldLayoutId id="2147483669" r:id="rId26"/>
    <p:sldLayoutId id="2147483670" r:id="rId27"/>
    <p:sldLayoutId id="2147483671" r:id="rId28"/>
    <p:sldLayoutId id="2147483672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K2D" panose="00000500000000000000" pitchFamily="2" charset="-3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metinmekiabullrahman/fire-detection/data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hyperlink" Target="https://universe.roboflow.com/university-of-the-philippines-cebu/fire-source-detection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7ED5204-65E5-4C67-1A46-FB209639C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703" y="4223598"/>
            <a:ext cx="3629532" cy="11431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C45E41-A1AF-488B-B0BD-65F8B7FDA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144" y="2357664"/>
            <a:ext cx="11205713" cy="1855310"/>
          </a:xfrm>
        </p:spPr>
        <p:txBody>
          <a:bodyPr>
            <a:normAutofit fontScale="90000"/>
          </a:bodyPr>
          <a:lstStyle/>
          <a:p>
            <a:r>
              <a:rPr lang="en-US" dirty="0"/>
              <a:t>XÂY DỰNG HỆ THỐNG PHÁT HIỆN ĐÁM CHÁY</a:t>
            </a:r>
            <a:br>
              <a:rPr lang="en-US" dirty="0"/>
            </a:br>
            <a:r>
              <a:rPr lang="en-US" dirty="0"/>
              <a:t>THEO THỜI GIAN THỰC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7A67E-F5E5-4E62-AFA1-B5747C25AE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3144" y="4244847"/>
            <a:ext cx="11205713" cy="492125"/>
          </a:xfrm>
        </p:spPr>
        <p:txBody>
          <a:bodyPr/>
          <a:lstStyle/>
          <a:p>
            <a:pPr algn="just"/>
            <a:r>
              <a:rPr lang="en-US" dirty="0"/>
              <a:t>          </a:t>
            </a:r>
            <a:r>
              <a:rPr lang="en-US" i="1" dirty="0" err="1"/>
              <a:t>Cán</a:t>
            </a:r>
            <a:r>
              <a:rPr lang="en-US" i="1" dirty="0"/>
              <a:t> </a:t>
            </a:r>
            <a:r>
              <a:rPr lang="en-US" i="1" dirty="0" err="1"/>
              <a:t>bộ</a:t>
            </a:r>
            <a:r>
              <a:rPr lang="en-US" i="1" dirty="0"/>
              <a:t> </a:t>
            </a:r>
            <a:r>
              <a:rPr lang="en-US" i="1" dirty="0" err="1"/>
              <a:t>hướng</a:t>
            </a:r>
            <a:r>
              <a:rPr lang="en-US" i="1" dirty="0"/>
              <a:t> </a:t>
            </a:r>
            <a:r>
              <a:rPr lang="en-US" i="1" dirty="0" err="1"/>
              <a:t>dẫn</a:t>
            </a:r>
            <a:r>
              <a:rPr lang="en-US" i="1" dirty="0"/>
              <a:t>:</a:t>
            </a:r>
            <a:r>
              <a:rPr lang="en-US" dirty="0"/>
              <a:t>					        </a:t>
            </a:r>
            <a:r>
              <a:rPr lang="en-US" i="1" dirty="0" err="1"/>
              <a:t>Sinh</a:t>
            </a:r>
            <a:r>
              <a:rPr lang="en-US" i="1" dirty="0"/>
              <a:t> </a:t>
            </a:r>
            <a:r>
              <a:rPr lang="en-US" i="1" dirty="0" err="1"/>
              <a:t>viên</a:t>
            </a:r>
            <a:r>
              <a:rPr lang="en-US" i="1" dirty="0"/>
              <a:t> </a:t>
            </a:r>
            <a:r>
              <a:rPr lang="en-US" i="1" dirty="0" err="1"/>
              <a:t>thực</a:t>
            </a:r>
            <a:r>
              <a:rPr lang="en-US" i="1" dirty="0"/>
              <a:t> </a:t>
            </a:r>
            <a:r>
              <a:rPr lang="en-US" i="1" dirty="0" err="1"/>
              <a:t>hiện</a:t>
            </a:r>
            <a:r>
              <a:rPr lang="en-US" i="1" dirty="0"/>
              <a:t>:</a:t>
            </a:r>
          </a:p>
          <a:p>
            <a:pPr algn="just"/>
            <a:r>
              <a:rPr lang="en-US" dirty="0"/>
              <a:t>          Lê Minh </a:t>
            </a:r>
            <a:r>
              <a:rPr lang="en-US" dirty="0" err="1"/>
              <a:t>Hiếu</a:t>
            </a:r>
            <a:r>
              <a:rPr lang="en-US" dirty="0"/>
              <a:t>						        </a:t>
            </a:r>
            <a:r>
              <a:rPr lang="en-US" dirty="0" err="1"/>
              <a:t>Nguyễn</a:t>
            </a:r>
            <a:r>
              <a:rPr lang="en-US" dirty="0"/>
              <a:t> </a:t>
            </a:r>
            <a:r>
              <a:rPr lang="en-US" dirty="0" err="1"/>
              <a:t>Hoàng</a:t>
            </a:r>
            <a:r>
              <a:rPr lang="en-US" dirty="0"/>
              <a:t> </a:t>
            </a:r>
            <a:r>
              <a:rPr lang="en-US" dirty="0" err="1"/>
              <a:t>Thắng</a:t>
            </a:r>
            <a:endParaRPr lang="en-US" dirty="0"/>
          </a:p>
          <a:p>
            <a:pPr algn="just"/>
            <a:r>
              <a:rPr lang="en-US" dirty="0"/>
              <a:t>								        </a:t>
            </a:r>
            <a:r>
              <a:rPr lang="en-US" dirty="0" err="1"/>
              <a:t>Nguyễn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Phát</a:t>
            </a:r>
            <a:endParaRPr lang="en-US" dirty="0"/>
          </a:p>
          <a:p>
            <a:pPr algn="just"/>
            <a:r>
              <a:rPr lang="en-US" dirty="0"/>
              <a:t>								        Đào Trần Quốc Phong</a:t>
            </a:r>
          </a:p>
        </p:txBody>
      </p:sp>
    </p:spTree>
    <p:extLst>
      <p:ext uri="{BB962C8B-B14F-4D97-AF65-F5344CB8AC3E}">
        <p14:creationId xmlns:p14="http://schemas.microsoft.com/office/powerpoint/2010/main" val="520877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1B1255-3EF2-B5DB-6839-E04B1703D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66" y="2528290"/>
            <a:ext cx="2534004" cy="1295581"/>
          </a:xfrm>
          <a:prstGeom prst="rect">
            <a:avLst/>
          </a:prstGeom>
        </p:spPr>
      </p:pic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9498418B-320B-07E8-DA88-144C651FD3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8182465"/>
              </p:ext>
            </p:extLst>
          </p:nvPr>
        </p:nvGraphicFramePr>
        <p:xfrm>
          <a:off x="452120" y="1055090"/>
          <a:ext cx="11287760" cy="530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5160">
                  <a:extLst>
                    <a:ext uri="{9D8B030D-6E8A-4147-A177-3AD203B41FA5}">
                      <a16:colId xmlns:a16="http://schemas.microsoft.com/office/drawing/2014/main" val="2345844041"/>
                    </a:ext>
                  </a:extLst>
                </a:gridCol>
                <a:gridCol w="1412240">
                  <a:extLst>
                    <a:ext uri="{9D8B030D-6E8A-4147-A177-3AD203B41FA5}">
                      <a16:colId xmlns:a16="http://schemas.microsoft.com/office/drawing/2014/main" val="2367715123"/>
                    </a:ext>
                  </a:extLst>
                </a:gridCol>
                <a:gridCol w="2733040">
                  <a:extLst>
                    <a:ext uri="{9D8B030D-6E8A-4147-A177-3AD203B41FA5}">
                      <a16:colId xmlns:a16="http://schemas.microsoft.com/office/drawing/2014/main" val="2795137958"/>
                    </a:ext>
                  </a:extLst>
                </a:gridCol>
                <a:gridCol w="4714240">
                  <a:extLst>
                    <a:ext uri="{9D8B030D-6E8A-4147-A177-3AD203B41FA5}">
                      <a16:colId xmlns:a16="http://schemas.microsoft.com/office/drawing/2014/main" val="361852545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837129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STT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MSSV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HỌ TÊN 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CÔNG VIỆC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CHỨC VỤ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278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B2112008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Nguyễn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Hoàng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Thắng</a:t>
                      </a:r>
                      <a:endParaRPr lang="en-US" dirty="0">
                        <a:latin typeface="iCiel Gotham Medium" pitchFamily="50" charset="0"/>
                        <a:cs typeface="iCiel Gotham Medium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just">
                        <a:buFontTx/>
                        <a:buNone/>
                      </a:pP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-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Tìm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hiểu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công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cụ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và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thu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thập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dữ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liệu</a:t>
                      </a:r>
                      <a:endParaRPr lang="en-US" dirty="0">
                        <a:latin typeface="iCiel Gotham Medium" pitchFamily="50" charset="0"/>
                        <a:cs typeface="iCiel Gotham Medium" pitchFamily="50" charset="0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-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Huấn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luyện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mô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hình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YOLOv11</a:t>
                      </a:r>
                    </a:p>
                    <a:p>
                      <a:pPr marL="0" indent="0" algn="just">
                        <a:buFontTx/>
                        <a:buNone/>
                      </a:pP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-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Xây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dựng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và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quản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lý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cơ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sở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dữ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liệu</a:t>
                      </a:r>
                      <a:endParaRPr lang="en-US" dirty="0">
                        <a:latin typeface="iCiel Gotham Medium" pitchFamily="50" charset="0"/>
                        <a:cs typeface="iCiel Gotham Medium" pitchFamily="50" charset="0"/>
                      </a:endParaRPr>
                    </a:p>
                    <a:p>
                      <a:pPr marL="0" indent="0" algn="just">
                        <a:buFontTx/>
                        <a:buNone/>
                      </a:pP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-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Xây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dựng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frontend, backend</a:t>
                      </a:r>
                    </a:p>
                    <a:p>
                      <a:pPr algn="just"/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-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Viết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báo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cáo</a:t>
                      </a:r>
                      <a:endParaRPr lang="en-US" dirty="0">
                        <a:latin typeface="iCiel Gotham Medium" pitchFamily="50" charset="0"/>
                        <a:cs typeface="iCiel Gotham Medium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Trưởng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nhóm</a:t>
                      </a:r>
                      <a:endParaRPr lang="en-US" dirty="0">
                        <a:latin typeface="iCiel Gotham Medium" pitchFamily="50" charset="0"/>
                        <a:cs typeface="iCiel Gotham Medium" pitchFamily="50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5016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B2110023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Nguyễn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Thành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Phát</a:t>
                      </a:r>
                      <a:endParaRPr lang="en-US" dirty="0">
                        <a:latin typeface="iCiel Gotham Medium" pitchFamily="50" charset="0"/>
                        <a:cs typeface="iCiel Gotham Medium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-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Tìm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hiểu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công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cụ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và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thu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thập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dữ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liệu</a:t>
                      </a:r>
                      <a:endParaRPr lang="en-US" dirty="0">
                        <a:latin typeface="iCiel Gotham Medium" pitchFamily="50" charset="0"/>
                        <a:cs typeface="iCiel Gotham Medium" pitchFamily="50" charset="0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-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Huấn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luyện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mô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hình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YOLOv8</a:t>
                      </a:r>
                    </a:p>
                    <a:p>
                      <a:pPr marL="0" indent="0" algn="just">
                        <a:buFontTx/>
                        <a:buNone/>
                      </a:pP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-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Thiết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kế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và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xây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dựng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mô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hình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cơ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sở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dữ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liệu</a:t>
                      </a:r>
                      <a:endParaRPr lang="en-US" dirty="0">
                        <a:latin typeface="iCiel Gotham Medium" pitchFamily="50" charset="0"/>
                        <a:cs typeface="iCiel Gotham Medium" pitchFamily="50" charset="0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-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Xây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dựng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frontend, backend</a:t>
                      </a:r>
                    </a:p>
                    <a:p>
                      <a:pPr algn="just"/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-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Viết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báo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cáo</a:t>
                      </a:r>
                      <a:endParaRPr lang="en-US" dirty="0">
                        <a:latin typeface="iCiel Gotham Medium" pitchFamily="50" charset="0"/>
                        <a:cs typeface="iCiel Gotham Medium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Thành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viên</a:t>
                      </a:r>
                      <a:endParaRPr lang="en-US" dirty="0">
                        <a:latin typeface="iCiel Gotham Medium" pitchFamily="50" charset="0"/>
                        <a:cs typeface="iCiel Gotham Medium" pitchFamily="50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2132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B2103470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Đào Trần Quốc Phong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-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Tìm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hiểu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công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cụ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và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thu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thập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dữ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liệu</a:t>
                      </a:r>
                      <a:endParaRPr lang="en-US" dirty="0">
                        <a:latin typeface="iCiel Gotham Medium" pitchFamily="50" charset="0"/>
                        <a:cs typeface="iCiel Gotham Medium" pitchFamily="50" charset="0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-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Huấn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luyện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mô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hình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YOLOv10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-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Đặc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tả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hệ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thống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và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tham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gia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xây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dựng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mô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hình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cơ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sở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dữ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liệu</a:t>
                      </a:r>
                      <a:endParaRPr lang="en-US" dirty="0">
                        <a:latin typeface="iCiel Gotham Medium" pitchFamily="50" charset="0"/>
                        <a:cs typeface="iCiel Gotham Medium" pitchFamily="50" charset="0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-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Xây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dựng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frontend</a:t>
                      </a:r>
                    </a:p>
                    <a:p>
                      <a:pPr algn="just"/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-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Viết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báo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cáo</a:t>
                      </a:r>
                      <a:endParaRPr lang="en-US" dirty="0">
                        <a:latin typeface="iCiel Gotham Medium" pitchFamily="50" charset="0"/>
                        <a:cs typeface="iCiel Gotham Medium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Thành</a:t>
                      </a:r>
                      <a:r>
                        <a:rPr lang="en-US" dirty="0">
                          <a:latin typeface="iCiel Gotham Medium" pitchFamily="50" charset="0"/>
                          <a:cs typeface="iCiel Gotham Medium" pitchFamily="50" charset="0"/>
                        </a:rPr>
                        <a:t> </a:t>
                      </a:r>
                      <a:r>
                        <a:rPr lang="en-US" dirty="0" err="1">
                          <a:latin typeface="iCiel Gotham Medium" pitchFamily="50" charset="0"/>
                          <a:cs typeface="iCiel Gotham Medium" pitchFamily="50" charset="0"/>
                        </a:rPr>
                        <a:t>viên</a:t>
                      </a:r>
                      <a:endParaRPr lang="en-US" dirty="0">
                        <a:latin typeface="iCiel Gotham Medium" pitchFamily="50" charset="0"/>
                        <a:cs typeface="iCiel Gotham Medium" pitchFamily="50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9595467"/>
                  </a:ext>
                </a:extLst>
              </a:tr>
            </a:tbl>
          </a:graphicData>
        </a:graphic>
      </p:graphicFrame>
      <p:sp>
        <p:nvSpPr>
          <p:cNvPr id="8" name="Title 6">
            <a:extLst>
              <a:ext uri="{FF2B5EF4-FFF2-40B4-BE49-F238E27FC236}">
                <a16:creationId xmlns:a16="http://schemas.microsoft.com/office/drawing/2014/main" id="{CCFC3BEC-86F0-259D-7EA4-2A5DA34C8DFB}"/>
              </a:ext>
            </a:extLst>
          </p:cNvPr>
          <p:cNvSpPr txBox="1">
            <a:spLocks/>
          </p:cNvSpPr>
          <p:nvPr/>
        </p:nvSpPr>
        <p:spPr>
          <a:xfrm>
            <a:off x="838200" y="169107"/>
            <a:ext cx="10515600" cy="8859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BẢNG PHÂN CÔNG</a:t>
            </a:r>
          </a:p>
        </p:txBody>
      </p:sp>
    </p:spTree>
    <p:extLst>
      <p:ext uri="{BB962C8B-B14F-4D97-AF65-F5344CB8AC3E}">
        <p14:creationId xmlns:p14="http://schemas.microsoft.com/office/powerpoint/2010/main" val="2606563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1B1255-3EF2-B5DB-6839-E04B1703D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66" y="2528290"/>
            <a:ext cx="2534004" cy="1295581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CCFC3BEC-86F0-259D-7EA4-2A5DA34C8DFB}"/>
              </a:ext>
            </a:extLst>
          </p:cNvPr>
          <p:cNvSpPr txBox="1">
            <a:spLocks/>
          </p:cNvSpPr>
          <p:nvPr/>
        </p:nvSpPr>
        <p:spPr>
          <a:xfrm>
            <a:off x="838200" y="1691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NỘI DUNG BÁO CÁO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468D4B7-04A6-1732-0ADC-CBFA3BCE6CFA}"/>
              </a:ext>
            </a:extLst>
          </p:cNvPr>
          <p:cNvSpPr>
            <a:spLocks noGrp="1"/>
          </p:cNvSpPr>
          <p:nvPr/>
        </p:nvSpPr>
        <p:spPr>
          <a:xfrm>
            <a:off x="838200" y="149466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Bef>
                <a:spcPts val="1800"/>
              </a:spcBef>
              <a:buFont typeface="+mj-lt"/>
              <a:buAutoNum type="arabicPeriod"/>
            </a:pPr>
            <a:r>
              <a:rPr lang="en-US" sz="3000" dirty="0" err="1">
                <a:latin typeface="iCiel Gotham Medium" pitchFamily="50" charset="0"/>
                <a:ea typeface="Yu Mincho Light" panose="020B0400000000000000" pitchFamily="18" charset="-128"/>
                <a:cs typeface="iCiel Gotham Medium" pitchFamily="50" charset="0"/>
              </a:rPr>
              <a:t>Đặt</a:t>
            </a:r>
            <a:r>
              <a:rPr lang="en-US" sz="3000" dirty="0">
                <a:latin typeface="iCiel Gotham Medium" pitchFamily="50" charset="0"/>
                <a:ea typeface="Yu Mincho Light" panose="020B0400000000000000" pitchFamily="18" charset="-128"/>
                <a:cs typeface="iCiel Gotham Medium" pitchFamily="50" charset="0"/>
              </a:rPr>
              <a:t> </a:t>
            </a:r>
            <a:r>
              <a:rPr lang="en-US" sz="3000" dirty="0" err="1">
                <a:latin typeface="iCiel Gotham Medium" pitchFamily="50" charset="0"/>
                <a:ea typeface="Yu Mincho Light" panose="020B0400000000000000" pitchFamily="18" charset="-128"/>
                <a:cs typeface="iCiel Gotham Medium" pitchFamily="50" charset="0"/>
              </a:rPr>
              <a:t>vấn</a:t>
            </a:r>
            <a:r>
              <a:rPr lang="en-US" sz="3000" dirty="0">
                <a:latin typeface="iCiel Gotham Medium" pitchFamily="50" charset="0"/>
                <a:ea typeface="Yu Mincho Light" panose="020B0400000000000000" pitchFamily="18" charset="-128"/>
                <a:cs typeface="iCiel Gotham Medium" pitchFamily="50" charset="0"/>
              </a:rPr>
              <a:t> </a:t>
            </a:r>
            <a:r>
              <a:rPr lang="en-US" sz="3000" dirty="0" err="1">
                <a:latin typeface="iCiel Gotham Medium" pitchFamily="50" charset="0"/>
                <a:ea typeface="Yu Mincho Light" panose="020B0400000000000000" pitchFamily="18" charset="-128"/>
                <a:cs typeface="iCiel Gotham Medium" pitchFamily="50" charset="0"/>
              </a:rPr>
              <a:t>đề</a:t>
            </a:r>
            <a:endParaRPr lang="en-US" sz="3000" dirty="0">
              <a:latin typeface="iCiel Gotham Medium" pitchFamily="50" charset="0"/>
              <a:ea typeface="Yu Mincho Light" panose="020B0400000000000000" pitchFamily="18" charset="-128"/>
              <a:cs typeface="iCiel Gotham Medium" pitchFamily="50" charset="0"/>
            </a:endParaRPr>
          </a:p>
          <a:p>
            <a:pPr marL="457200" indent="-457200">
              <a:spcBef>
                <a:spcPts val="1800"/>
              </a:spcBef>
              <a:buFont typeface="+mj-lt"/>
              <a:buAutoNum type="arabicPeriod"/>
            </a:pPr>
            <a:r>
              <a:rPr lang="en-US" sz="3000" dirty="0" err="1">
                <a:latin typeface="iCiel Gotham Medium" pitchFamily="50" charset="0"/>
                <a:ea typeface="Yu Mincho Light" panose="020B0400000000000000" pitchFamily="18" charset="-128"/>
                <a:cs typeface="iCiel Gotham Medium" pitchFamily="50" charset="0"/>
              </a:rPr>
              <a:t>Giới</a:t>
            </a:r>
            <a:r>
              <a:rPr lang="en-US" sz="3000" dirty="0">
                <a:latin typeface="iCiel Gotham Medium" pitchFamily="50" charset="0"/>
                <a:ea typeface="Yu Mincho Light" panose="020B0400000000000000" pitchFamily="18" charset="-128"/>
                <a:cs typeface="iCiel Gotham Medium" pitchFamily="50" charset="0"/>
              </a:rPr>
              <a:t> </a:t>
            </a:r>
            <a:r>
              <a:rPr lang="en-US" sz="3000" dirty="0" err="1">
                <a:latin typeface="iCiel Gotham Medium" pitchFamily="50" charset="0"/>
                <a:ea typeface="Yu Mincho Light" panose="020B0400000000000000" pitchFamily="18" charset="-128"/>
                <a:cs typeface="iCiel Gotham Medium" pitchFamily="50" charset="0"/>
              </a:rPr>
              <a:t>thiệu</a:t>
            </a:r>
            <a:r>
              <a:rPr lang="en-US" sz="3000" dirty="0">
                <a:latin typeface="iCiel Gotham Medium" pitchFamily="50" charset="0"/>
                <a:ea typeface="Yu Mincho Light" panose="020B0400000000000000" pitchFamily="18" charset="-128"/>
                <a:cs typeface="iCiel Gotham Medium" pitchFamily="50" charset="0"/>
              </a:rPr>
              <a:t> </a:t>
            </a:r>
            <a:r>
              <a:rPr lang="en-US" sz="3000" dirty="0" err="1">
                <a:latin typeface="iCiel Gotham Medium" pitchFamily="50" charset="0"/>
                <a:ea typeface="Yu Mincho Light" panose="020B0400000000000000" pitchFamily="18" charset="-128"/>
                <a:cs typeface="iCiel Gotham Medium" pitchFamily="50" charset="0"/>
              </a:rPr>
              <a:t>đề</a:t>
            </a:r>
            <a:r>
              <a:rPr lang="en-US" sz="3000" dirty="0">
                <a:latin typeface="iCiel Gotham Medium" pitchFamily="50" charset="0"/>
                <a:ea typeface="Yu Mincho Light" panose="020B0400000000000000" pitchFamily="18" charset="-128"/>
                <a:cs typeface="iCiel Gotham Medium" pitchFamily="50" charset="0"/>
              </a:rPr>
              <a:t> </a:t>
            </a:r>
            <a:r>
              <a:rPr lang="en-US" sz="3000" dirty="0" err="1">
                <a:latin typeface="iCiel Gotham Medium" pitchFamily="50" charset="0"/>
                <a:ea typeface="Yu Mincho Light" panose="020B0400000000000000" pitchFamily="18" charset="-128"/>
                <a:cs typeface="iCiel Gotham Medium" pitchFamily="50" charset="0"/>
              </a:rPr>
              <a:t>tài</a:t>
            </a:r>
            <a:endParaRPr lang="en-US" sz="3000" dirty="0">
              <a:latin typeface="iCiel Gotham Medium" pitchFamily="50" charset="0"/>
              <a:ea typeface="Yu Mincho Light" panose="020B0400000000000000" pitchFamily="18" charset="-128"/>
              <a:cs typeface="iCiel Gotham Medium" pitchFamily="50" charset="0"/>
            </a:endParaRPr>
          </a:p>
          <a:p>
            <a:pPr marL="457200" indent="-457200">
              <a:spcBef>
                <a:spcPts val="1800"/>
              </a:spcBef>
              <a:buFont typeface="+mj-lt"/>
              <a:buAutoNum type="arabicPeriod"/>
            </a:pPr>
            <a:r>
              <a:rPr lang="en-US" sz="3000" dirty="0" err="1">
                <a:latin typeface="iCiel Gotham Medium" pitchFamily="50" charset="0"/>
                <a:ea typeface="Yu Mincho Light" panose="020B0400000000000000" pitchFamily="18" charset="-128"/>
                <a:cs typeface="iCiel Gotham Medium" pitchFamily="50" charset="0"/>
              </a:rPr>
              <a:t>Công</a:t>
            </a:r>
            <a:r>
              <a:rPr lang="en-US" sz="3000" dirty="0">
                <a:latin typeface="iCiel Gotham Medium" pitchFamily="50" charset="0"/>
                <a:ea typeface="Yu Mincho Light" panose="020B0400000000000000" pitchFamily="18" charset="-128"/>
                <a:cs typeface="iCiel Gotham Medium" pitchFamily="50" charset="0"/>
              </a:rPr>
              <a:t> </a:t>
            </a:r>
            <a:r>
              <a:rPr lang="en-US" sz="3000" dirty="0" err="1">
                <a:latin typeface="iCiel Gotham Medium" pitchFamily="50" charset="0"/>
                <a:ea typeface="Yu Mincho Light" panose="020B0400000000000000" pitchFamily="18" charset="-128"/>
                <a:cs typeface="iCiel Gotham Medium" pitchFamily="50" charset="0"/>
              </a:rPr>
              <a:t>cụ</a:t>
            </a:r>
            <a:endParaRPr lang="en-US" sz="3000" dirty="0">
              <a:latin typeface="iCiel Gotham Medium" pitchFamily="50" charset="0"/>
              <a:ea typeface="Yu Mincho Light" panose="020B0400000000000000" pitchFamily="18" charset="-128"/>
              <a:cs typeface="iCiel Gotham Medium" pitchFamily="50" charset="0"/>
            </a:endParaRPr>
          </a:p>
          <a:p>
            <a:pPr marL="457200" indent="-457200">
              <a:spcBef>
                <a:spcPts val="1800"/>
              </a:spcBef>
              <a:buFont typeface="+mj-lt"/>
              <a:buAutoNum type="arabicPeriod"/>
            </a:pPr>
            <a:r>
              <a:rPr lang="en-US" sz="3000" dirty="0" err="1">
                <a:latin typeface="iCiel Gotham Medium" pitchFamily="50" charset="0"/>
                <a:ea typeface="Yu Mincho Light" panose="020B0400000000000000" pitchFamily="18" charset="-128"/>
                <a:cs typeface="iCiel Gotham Medium" pitchFamily="50" charset="0"/>
              </a:rPr>
              <a:t>Thiết</a:t>
            </a:r>
            <a:r>
              <a:rPr lang="en-US" sz="3000" dirty="0">
                <a:latin typeface="iCiel Gotham Medium" pitchFamily="50" charset="0"/>
                <a:ea typeface="Yu Mincho Light" panose="020B0400000000000000" pitchFamily="18" charset="-128"/>
                <a:cs typeface="iCiel Gotham Medium" pitchFamily="50" charset="0"/>
              </a:rPr>
              <a:t> </a:t>
            </a:r>
            <a:r>
              <a:rPr lang="en-US" sz="3000" dirty="0" err="1">
                <a:latin typeface="iCiel Gotham Medium" pitchFamily="50" charset="0"/>
                <a:ea typeface="Yu Mincho Light" panose="020B0400000000000000" pitchFamily="18" charset="-128"/>
                <a:cs typeface="iCiel Gotham Medium" pitchFamily="50" charset="0"/>
              </a:rPr>
              <a:t>kế</a:t>
            </a:r>
            <a:r>
              <a:rPr lang="en-US" sz="3000" dirty="0">
                <a:latin typeface="iCiel Gotham Medium" pitchFamily="50" charset="0"/>
                <a:ea typeface="Yu Mincho Light" panose="020B0400000000000000" pitchFamily="18" charset="-128"/>
                <a:cs typeface="iCiel Gotham Medium" pitchFamily="50" charset="0"/>
              </a:rPr>
              <a:t> </a:t>
            </a:r>
            <a:r>
              <a:rPr lang="en-US" sz="3000" dirty="0" err="1">
                <a:latin typeface="iCiel Gotham Medium" pitchFamily="50" charset="0"/>
                <a:ea typeface="Yu Mincho Light" panose="020B0400000000000000" pitchFamily="18" charset="-128"/>
                <a:cs typeface="iCiel Gotham Medium" pitchFamily="50" charset="0"/>
              </a:rPr>
              <a:t>và</a:t>
            </a:r>
            <a:r>
              <a:rPr lang="en-US" sz="3000" dirty="0">
                <a:latin typeface="iCiel Gotham Medium" pitchFamily="50" charset="0"/>
                <a:ea typeface="Yu Mincho Light" panose="020B0400000000000000" pitchFamily="18" charset="-128"/>
                <a:cs typeface="iCiel Gotham Medium" pitchFamily="50" charset="0"/>
              </a:rPr>
              <a:t> </a:t>
            </a:r>
            <a:r>
              <a:rPr lang="en-US" sz="3000" dirty="0" err="1">
                <a:latin typeface="iCiel Gotham Medium" pitchFamily="50" charset="0"/>
                <a:ea typeface="Yu Mincho Light" panose="020B0400000000000000" pitchFamily="18" charset="-128"/>
                <a:cs typeface="iCiel Gotham Medium" pitchFamily="50" charset="0"/>
              </a:rPr>
              <a:t>cài</a:t>
            </a:r>
            <a:r>
              <a:rPr lang="en-US" sz="3000" dirty="0">
                <a:latin typeface="iCiel Gotham Medium" pitchFamily="50" charset="0"/>
                <a:ea typeface="Yu Mincho Light" panose="020B0400000000000000" pitchFamily="18" charset="-128"/>
                <a:cs typeface="iCiel Gotham Medium" pitchFamily="50" charset="0"/>
              </a:rPr>
              <a:t> </a:t>
            </a:r>
            <a:r>
              <a:rPr lang="en-US" sz="3000" dirty="0" err="1">
                <a:latin typeface="iCiel Gotham Medium" pitchFamily="50" charset="0"/>
                <a:ea typeface="Yu Mincho Light" panose="020B0400000000000000" pitchFamily="18" charset="-128"/>
                <a:cs typeface="iCiel Gotham Medium" pitchFamily="50" charset="0"/>
              </a:rPr>
              <a:t>đặt</a:t>
            </a:r>
            <a:endParaRPr lang="en-US" sz="3000" dirty="0">
              <a:latin typeface="iCiel Gotham Medium" pitchFamily="50" charset="0"/>
              <a:ea typeface="Yu Mincho Light" panose="020B0400000000000000" pitchFamily="18" charset="-128"/>
              <a:cs typeface="iCiel Gotham Medium" pitchFamily="50" charset="0"/>
            </a:endParaRPr>
          </a:p>
          <a:p>
            <a:pPr marL="457200" indent="-457200">
              <a:spcBef>
                <a:spcPts val="1800"/>
              </a:spcBef>
              <a:buFont typeface="+mj-lt"/>
              <a:buAutoNum type="arabicPeriod"/>
            </a:pPr>
            <a:r>
              <a:rPr lang="en-US" sz="3000" dirty="0" err="1">
                <a:latin typeface="iCiel Gotham Medium" pitchFamily="50" charset="0"/>
                <a:ea typeface="Yu Mincho Light" panose="020B0400000000000000" pitchFamily="18" charset="-128"/>
                <a:cs typeface="iCiel Gotham Medium" pitchFamily="50" charset="0"/>
              </a:rPr>
              <a:t>Kết</a:t>
            </a:r>
            <a:r>
              <a:rPr lang="en-US" sz="3000" dirty="0">
                <a:latin typeface="iCiel Gotham Medium" pitchFamily="50" charset="0"/>
                <a:ea typeface="Yu Mincho Light" panose="020B0400000000000000" pitchFamily="18" charset="-128"/>
                <a:cs typeface="iCiel Gotham Medium" pitchFamily="50" charset="0"/>
              </a:rPr>
              <a:t> </a:t>
            </a:r>
            <a:r>
              <a:rPr lang="en-US" sz="3000" dirty="0" err="1">
                <a:latin typeface="iCiel Gotham Medium" pitchFamily="50" charset="0"/>
                <a:ea typeface="Yu Mincho Light" panose="020B0400000000000000" pitchFamily="18" charset="-128"/>
                <a:cs typeface="iCiel Gotham Medium" pitchFamily="50" charset="0"/>
              </a:rPr>
              <a:t>luận</a:t>
            </a:r>
            <a:endParaRPr lang="en-US" sz="3000" dirty="0">
              <a:latin typeface="iCiel Gotham Medium" pitchFamily="50" charset="0"/>
              <a:ea typeface="Yu Mincho Light" panose="020B0400000000000000" pitchFamily="18" charset="-128"/>
              <a:cs typeface="iCiel Gotham Medium" pitchFamily="50" charset="0"/>
            </a:endParaRPr>
          </a:p>
          <a:p>
            <a:pPr marL="457200" indent="-457200">
              <a:spcBef>
                <a:spcPts val="1800"/>
              </a:spcBef>
              <a:buFont typeface="+mj-lt"/>
              <a:buAutoNum type="arabicPeriod"/>
            </a:pPr>
            <a:r>
              <a:rPr lang="en-US" sz="3000" dirty="0">
                <a:latin typeface="iCiel Gotham Medium" pitchFamily="50" charset="0"/>
                <a:ea typeface="Yu Mincho Light" panose="020B0400000000000000" pitchFamily="18" charset="-128"/>
                <a:cs typeface="iCiel Gotham Medium" pitchFamily="50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897169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1B1255-3EF2-B5DB-6839-E04B1703D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66" y="2528290"/>
            <a:ext cx="2534004" cy="1295581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CCFC3BEC-86F0-259D-7EA4-2A5DA34C8DFB}"/>
              </a:ext>
            </a:extLst>
          </p:cNvPr>
          <p:cNvSpPr txBox="1">
            <a:spLocks/>
          </p:cNvSpPr>
          <p:nvPr/>
        </p:nvSpPr>
        <p:spPr>
          <a:xfrm>
            <a:off x="838200" y="1691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1. ĐẶT VẤN ĐỀ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468D4B7-04A6-1732-0ADC-CBFA3BCE6CFA}"/>
              </a:ext>
            </a:extLst>
          </p:cNvPr>
          <p:cNvSpPr>
            <a:spLocks noGrp="1"/>
          </p:cNvSpPr>
          <p:nvPr/>
        </p:nvSpPr>
        <p:spPr>
          <a:xfrm>
            <a:off x="597466" y="1525301"/>
            <a:ext cx="10515600" cy="12955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Bảng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thống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b="0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kê</a:t>
            </a:r>
            <a:r>
              <a:rPr lang="en-US" b="0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b="0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tình</a:t>
            </a:r>
            <a:r>
              <a:rPr lang="en-US" b="0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b="0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hình</a:t>
            </a:r>
            <a:r>
              <a:rPr lang="en-US" b="0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b="0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cháy</a:t>
            </a:r>
            <a:r>
              <a:rPr lang="en-US" b="0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b="0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nổ</a:t>
            </a:r>
            <a:r>
              <a:rPr lang="en-US" b="0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b="0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năm</a:t>
            </a:r>
            <a:r>
              <a:rPr lang="en-US" b="0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2022-2023 </a:t>
            </a:r>
            <a:r>
              <a:rPr lang="en-US" b="0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tại</a:t>
            </a:r>
            <a:r>
              <a:rPr lang="en-US" b="0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b="0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Việt</a:t>
            </a:r>
            <a:r>
              <a:rPr lang="en-US" b="0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Nam </a:t>
            </a:r>
          </a:p>
          <a:p>
            <a:pPr algn="ctr">
              <a:spcBef>
                <a:spcPts val="600"/>
              </a:spcBef>
            </a:pPr>
            <a:r>
              <a:rPr lang="en-US" b="0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(</a:t>
            </a:r>
            <a:r>
              <a:rPr lang="en-US" b="0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Nguồn</a:t>
            </a:r>
            <a:r>
              <a:rPr lang="en-US" b="0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: </a:t>
            </a:r>
            <a:r>
              <a:rPr lang="en-US" b="0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Cục</a:t>
            </a:r>
            <a:r>
              <a:rPr lang="en-US" b="0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b="0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Cảnh</a:t>
            </a:r>
            <a:r>
              <a:rPr lang="en-US" b="0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b="0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sát</a:t>
            </a:r>
            <a:r>
              <a:rPr lang="en-US" b="0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PCCC &amp; CNCH)</a:t>
            </a:r>
            <a:endParaRPr lang="en-US" b="1" dirty="0">
              <a:effectLst/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6F8D523-7EE2-5A64-8A71-BEFA7542B9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655565"/>
              </p:ext>
            </p:extLst>
          </p:nvPr>
        </p:nvGraphicFramePr>
        <p:xfrm>
          <a:off x="628557" y="2638594"/>
          <a:ext cx="10942531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986">
                  <a:extLst>
                    <a:ext uri="{9D8B030D-6E8A-4147-A177-3AD203B41FA5}">
                      <a16:colId xmlns:a16="http://schemas.microsoft.com/office/drawing/2014/main" val="2185349372"/>
                    </a:ext>
                  </a:extLst>
                </a:gridCol>
                <a:gridCol w="1135464">
                  <a:extLst>
                    <a:ext uri="{9D8B030D-6E8A-4147-A177-3AD203B41FA5}">
                      <a16:colId xmlns:a16="http://schemas.microsoft.com/office/drawing/2014/main" val="1157969886"/>
                    </a:ext>
                  </a:extLst>
                </a:gridCol>
                <a:gridCol w="1607736">
                  <a:extLst>
                    <a:ext uri="{9D8B030D-6E8A-4147-A177-3AD203B41FA5}">
                      <a16:colId xmlns:a16="http://schemas.microsoft.com/office/drawing/2014/main" val="1075799073"/>
                    </a:ext>
                  </a:extLst>
                </a:gridCol>
                <a:gridCol w="1818752">
                  <a:extLst>
                    <a:ext uri="{9D8B030D-6E8A-4147-A177-3AD203B41FA5}">
                      <a16:colId xmlns:a16="http://schemas.microsoft.com/office/drawing/2014/main" val="1003743930"/>
                    </a:ext>
                  </a:extLst>
                </a:gridCol>
                <a:gridCol w="2803490">
                  <a:extLst>
                    <a:ext uri="{9D8B030D-6E8A-4147-A177-3AD203B41FA5}">
                      <a16:colId xmlns:a16="http://schemas.microsoft.com/office/drawing/2014/main" val="4177498466"/>
                    </a:ext>
                  </a:extLst>
                </a:gridCol>
                <a:gridCol w="2723103">
                  <a:extLst>
                    <a:ext uri="{9D8B030D-6E8A-4147-A177-3AD203B41FA5}">
                      <a16:colId xmlns:a16="http://schemas.microsoft.com/office/drawing/2014/main" val="1140014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iCiel Gotham Medium" pitchFamily="50" charset="0"/>
                          <a:cs typeface="iCiel Gotham Medium" pitchFamily="50" charset="0"/>
                        </a:rPr>
                        <a:t>NĂM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iCiel Gotham Medium" pitchFamily="50" charset="0"/>
                          <a:cs typeface="iCiel Gotham Medium" pitchFamily="50" charset="0"/>
                        </a:rPr>
                        <a:t>SỐ VỤ</a:t>
                      </a:r>
                    </a:p>
                    <a:p>
                      <a:pPr algn="ctr"/>
                      <a:r>
                        <a:rPr lang="en-US" sz="2000" dirty="0">
                          <a:latin typeface="iCiel Gotham Medium" pitchFamily="50" charset="0"/>
                          <a:cs typeface="iCiel Gotham Medium" pitchFamily="50" charset="0"/>
                        </a:rPr>
                        <a:t>CHÁY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iCiel Gotham Medium" pitchFamily="50" charset="0"/>
                          <a:cs typeface="iCiel Gotham Medium" pitchFamily="50" charset="0"/>
                        </a:rPr>
                        <a:t>SỐ NGƯỜI </a:t>
                      </a:r>
                    </a:p>
                    <a:p>
                      <a:pPr algn="ctr"/>
                      <a:r>
                        <a:rPr lang="en-US" sz="2000" dirty="0">
                          <a:latin typeface="iCiel Gotham Medium" pitchFamily="50" charset="0"/>
                          <a:cs typeface="iCiel Gotham Medium" pitchFamily="50" charset="0"/>
                        </a:rPr>
                        <a:t>CHẾT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iCiel Gotham Medium" pitchFamily="50" charset="0"/>
                          <a:cs typeface="iCiel Gotham Medium" pitchFamily="50" charset="0"/>
                        </a:rPr>
                        <a:t>SỐ NGƯỜI </a:t>
                      </a:r>
                    </a:p>
                    <a:p>
                      <a:pPr algn="ctr"/>
                      <a:r>
                        <a:rPr lang="en-US" sz="2000" dirty="0">
                          <a:latin typeface="iCiel Gotham Medium" pitchFamily="50" charset="0"/>
                          <a:cs typeface="iCiel Gotham Medium" pitchFamily="50" charset="0"/>
                        </a:rPr>
                        <a:t>BỊ THƯƠNG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iCiel Gotham Medium" pitchFamily="50" charset="0"/>
                          <a:cs typeface="iCiel Gotham Medium" pitchFamily="50" charset="0"/>
                        </a:rPr>
                        <a:t>THIỆT HẠI TÀI SẢN </a:t>
                      </a:r>
                    </a:p>
                    <a:p>
                      <a:pPr algn="ctr"/>
                      <a:r>
                        <a:rPr lang="en-US" sz="2000" dirty="0">
                          <a:latin typeface="iCiel Gotham Medium" pitchFamily="50" charset="0"/>
                          <a:cs typeface="iCiel Gotham Medium" pitchFamily="50" charset="0"/>
                        </a:rPr>
                        <a:t>(TỶ ĐỒNG)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iCiel Gotham Medium" pitchFamily="50" charset="0"/>
                          <a:cs typeface="iCiel Gotham Medium" pitchFamily="50" charset="0"/>
                        </a:rPr>
                        <a:t>DIỆN TÍCH RỪNG BỊ CHÁY (HA)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5266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iCiel Gotham Medium" pitchFamily="50" charset="0"/>
                          <a:cs typeface="iCiel Gotham Medium" pitchFamily="50" charset="0"/>
                        </a:rP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iCiel Gotham Medium" pitchFamily="50" charset="0"/>
                          <a:cs typeface="iCiel Gotham Medium" pitchFamily="50" charset="0"/>
                        </a:rPr>
                        <a:t>3234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iCiel Gotham Medium" pitchFamily="50" charset="0"/>
                          <a:cs typeface="iCiel Gotham Medium" pitchFamily="50" charset="0"/>
                        </a:rP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iCiel Gotham Medium" pitchFamily="50" charset="0"/>
                          <a:cs typeface="iCiel Gotham Medium" pitchFamily="50" charset="0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iCiel Gotham Medium" pitchFamily="50" charset="0"/>
                          <a:cs typeface="iCiel Gotham Medium" pitchFamily="50" charset="0"/>
                        </a:rPr>
                        <a:t>634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iCiel Gotham Medium" pitchFamily="50" charset="0"/>
                          <a:cs typeface="iCiel Gotham Medium" pitchFamily="50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893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iCiel Gotham Medium" pitchFamily="50" charset="0"/>
                          <a:cs typeface="iCiel Gotham Medium" pitchFamily="50" charset="0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iCiel Gotham Medium" pitchFamily="50" charset="0"/>
                          <a:cs typeface="iCiel Gotham Medium" pitchFamily="50" charset="0"/>
                        </a:rPr>
                        <a:t>3440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iCiel Gotham Medium" pitchFamily="50" charset="0"/>
                          <a:cs typeface="iCiel Gotham Medium" pitchFamily="50" charset="0"/>
                        </a:rPr>
                        <a:t>146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iCiel Gotham Medium" pitchFamily="50" charset="0"/>
                          <a:cs typeface="iCiel Gotham Medium" pitchFamily="50" charset="0"/>
                        </a:rPr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iCiel Gotham Medium" pitchFamily="50" charset="0"/>
                          <a:cs typeface="iCiel Gotham Medium" pitchFamily="50" charset="0"/>
                        </a:rPr>
                        <a:t>878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iCiel Gotham Medium" pitchFamily="50" charset="0"/>
                          <a:cs typeface="iCiel Gotham Medium" pitchFamily="50" charset="0"/>
                        </a:rPr>
                        <a:t>236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334129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AC8DA-70F5-B9C9-A878-DFC7F0275F4E}"/>
              </a:ext>
            </a:extLst>
          </p:cNvPr>
          <p:cNvSpPr>
            <a:spLocks noGrp="1"/>
          </p:cNvSpPr>
          <p:nvPr/>
        </p:nvSpPr>
        <p:spPr>
          <a:xfrm>
            <a:off x="838200" y="4597616"/>
            <a:ext cx="10515600" cy="12955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en-US" b="1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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Các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đám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cháy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đe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dọa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nghiêm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trọng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về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tính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mạng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và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tài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sản</a:t>
            </a:r>
            <a:endParaRPr lang="en-US" b="1" dirty="0">
              <a:effectLst/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339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1B1255-3EF2-B5DB-6839-E04B1703D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66" y="2528290"/>
            <a:ext cx="2534004" cy="1295581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CCFC3BEC-86F0-259D-7EA4-2A5DA34C8DFB}"/>
              </a:ext>
            </a:extLst>
          </p:cNvPr>
          <p:cNvSpPr txBox="1">
            <a:spLocks/>
          </p:cNvSpPr>
          <p:nvPr/>
        </p:nvSpPr>
        <p:spPr>
          <a:xfrm>
            <a:off x="838200" y="1691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1. ĐẶT VẤN ĐỀ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468D4B7-04A6-1732-0ADC-CBFA3BCE6CFA}"/>
              </a:ext>
            </a:extLst>
          </p:cNvPr>
          <p:cNvSpPr>
            <a:spLocks noGrp="1"/>
          </p:cNvSpPr>
          <p:nvPr/>
        </p:nvSpPr>
        <p:spPr>
          <a:xfrm>
            <a:off x="6770450" y="1525301"/>
            <a:ext cx="4342615" cy="3552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Ưu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điểm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: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Chi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phí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thấp</a:t>
            </a:r>
            <a:endParaRPr lang="en-US" dirty="0">
              <a:effectLst/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Dễ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dàng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lắp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đặt</a:t>
            </a:r>
            <a:endParaRPr lang="en-US" dirty="0"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Phạm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vi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phát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hiện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rộng</a:t>
            </a:r>
            <a:endParaRPr lang="en-US" dirty="0">
              <a:effectLst/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  <a:p>
            <a:pPr>
              <a:spcBef>
                <a:spcPts val="600"/>
              </a:spcBef>
            </a:pP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Nhược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điểm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: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Tốc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độ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phát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hiện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chậm</a:t>
            </a:r>
            <a:endParaRPr lang="en-US" dirty="0">
              <a:effectLst/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Dễ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bị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ảnh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hưởng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bởi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điều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kiện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môi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trường</a:t>
            </a:r>
            <a:endParaRPr lang="en-US" dirty="0">
              <a:effectLst/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</p:txBody>
      </p:sp>
      <p:pic>
        <p:nvPicPr>
          <p:cNvPr id="5" name="Picture 4" descr="Diagram of a fire alarm system&#10;&#10;Description automatically generated">
            <a:extLst>
              <a:ext uri="{FF2B5EF4-FFF2-40B4-BE49-F238E27FC236}">
                <a16:creationId xmlns:a16="http://schemas.microsoft.com/office/drawing/2014/main" id="{19DE8490-173F-CC31-9529-5E4D43D2D2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525301"/>
            <a:ext cx="5329136" cy="3552757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1822BDD-72E1-5C82-4FD3-2A6AC9981D57}"/>
              </a:ext>
            </a:extLst>
          </p:cNvPr>
          <p:cNvSpPr>
            <a:spLocks noGrp="1"/>
          </p:cNvSpPr>
          <p:nvPr/>
        </p:nvSpPr>
        <p:spPr>
          <a:xfrm>
            <a:off x="658238" y="5385019"/>
            <a:ext cx="10875523" cy="6402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en-US" b="1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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Hệ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thống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báo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cháy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thông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thường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vẫn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tồn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tại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một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số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nhược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điểm</a:t>
            </a:r>
            <a:endParaRPr lang="en-US" b="1" dirty="0">
              <a:effectLst/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34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1B1255-3EF2-B5DB-6839-E04B1703D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66" y="2528290"/>
            <a:ext cx="2534004" cy="1295581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CCFC3BEC-86F0-259D-7EA4-2A5DA34C8DFB}"/>
              </a:ext>
            </a:extLst>
          </p:cNvPr>
          <p:cNvSpPr txBox="1">
            <a:spLocks/>
          </p:cNvSpPr>
          <p:nvPr/>
        </p:nvSpPr>
        <p:spPr>
          <a:xfrm>
            <a:off x="838200" y="1691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1. ĐẶT VẤN ĐỀ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468D4B7-04A6-1732-0ADC-CBFA3BCE6CFA}"/>
              </a:ext>
            </a:extLst>
          </p:cNvPr>
          <p:cNvSpPr>
            <a:spLocks noGrp="1"/>
          </p:cNvSpPr>
          <p:nvPr/>
        </p:nvSpPr>
        <p:spPr>
          <a:xfrm>
            <a:off x="5992238" y="1525301"/>
            <a:ext cx="5120827" cy="35527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S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ự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phát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triển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của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b="1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trí</a:t>
            </a:r>
            <a:r>
              <a:rPr lang="en-US" b="1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b="1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tuệ</a:t>
            </a:r>
            <a:r>
              <a:rPr lang="en-US" b="1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b="1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nhân</a:t>
            </a:r>
            <a:r>
              <a:rPr lang="en-US" b="1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b="1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tạo</a:t>
            </a:r>
            <a:r>
              <a:rPr lang="en-US" b="1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(AI)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và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b="1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thị</a:t>
            </a:r>
            <a:r>
              <a:rPr lang="en-US" b="1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b="1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giác</a:t>
            </a:r>
            <a:r>
              <a:rPr lang="en-US" b="1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b="1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máy</a:t>
            </a:r>
            <a:r>
              <a:rPr lang="en-US" b="1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b="1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tính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vi-VN" b="0" i="0" dirty="0">
                <a:effectLst/>
                <a:latin typeface="iCiel Gotham Medium" pitchFamily="50" charset="0"/>
                <a:cs typeface="iCiel Gotham Medium" pitchFamily="50" charset="0"/>
              </a:rPr>
              <a:t>Các mô hình học sâu hiện đại như </a:t>
            </a:r>
            <a:r>
              <a:rPr lang="vi-VN" b="1" i="0" dirty="0">
                <a:effectLst/>
                <a:latin typeface="iCiel Gotham Medium" pitchFamily="50" charset="0"/>
                <a:cs typeface="iCiel Gotham Medium" pitchFamily="50" charset="0"/>
              </a:rPr>
              <a:t>YOLO</a:t>
            </a:r>
            <a:r>
              <a:rPr lang="vi-VN" b="0" i="0" dirty="0">
                <a:effectLst/>
                <a:latin typeface="iCiel Gotham Medium" pitchFamily="50" charset="0"/>
                <a:cs typeface="iCiel Gotham Medium" pitchFamily="50" charset="0"/>
              </a:rPr>
              <a:t> có khả năng xử lý hình ảnh thời gian thực</a:t>
            </a:r>
            <a:r>
              <a:rPr lang="en-US" b="0" i="0" dirty="0">
                <a:effectLst/>
                <a:latin typeface="iCiel Gotham Medium" pitchFamily="50" charset="0"/>
                <a:cs typeface="iCiel Gotham Medium" pitchFamily="50" charset="0"/>
              </a:rPr>
              <a:t>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C</a:t>
            </a:r>
            <a:r>
              <a:rPr lang="en-US" b="0" i="0" dirty="0" err="1">
                <a:effectLst/>
                <a:latin typeface="iCiel Gotham Medium" pitchFamily="50" charset="0"/>
                <a:cs typeface="iCiel Gotham Medium" pitchFamily="50" charset="0"/>
              </a:rPr>
              <a:t>ó</a:t>
            </a:r>
            <a:r>
              <a:rPr lang="en-US" b="0" i="0" dirty="0">
                <a:effectLst/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b="0" i="0" dirty="0" err="1">
                <a:effectLst/>
                <a:latin typeface="iCiel Gotham Medium" pitchFamily="50" charset="0"/>
                <a:cs typeface="iCiel Gotham Medium" pitchFamily="50" charset="0"/>
              </a:rPr>
              <a:t>thể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tạo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ra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giải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pháp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xử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lý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những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nhược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điểm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của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hệ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thống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phát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hiện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đám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cháy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truyền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thống</a:t>
            </a:r>
            <a:endParaRPr lang="en-US" b="0" i="0" dirty="0">
              <a:effectLst/>
              <a:latin typeface="iCiel Gotham Medium" pitchFamily="50" charset="0"/>
              <a:cs typeface="iCiel Gotham Medium" pitchFamily="50" charset="0"/>
            </a:endParaRPr>
          </a:p>
          <a:p>
            <a:pPr>
              <a:spcBef>
                <a:spcPts val="600"/>
              </a:spcBef>
            </a:pPr>
            <a:endParaRPr lang="en-US" b="1" dirty="0">
              <a:effectLst/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1822BDD-72E1-5C82-4FD3-2A6AC9981D57}"/>
              </a:ext>
            </a:extLst>
          </p:cNvPr>
          <p:cNvSpPr>
            <a:spLocks noGrp="1"/>
          </p:cNvSpPr>
          <p:nvPr/>
        </p:nvSpPr>
        <p:spPr>
          <a:xfrm>
            <a:off x="658238" y="5385019"/>
            <a:ext cx="10875523" cy="6402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en-US" b="1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 “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Hệ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thống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phát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hiện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đám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cháy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theo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thời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gian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thực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”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được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thực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sym typeface="Wingdings" panose="05000000000000000000" pitchFamily="2" charset="2"/>
              </a:rPr>
              <a:t>hiện</a:t>
            </a:r>
            <a:endParaRPr lang="en-US" b="1" dirty="0">
              <a:effectLst/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</p:txBody>
      </p:sp>
      <p:pic>
        <p:nvPicPr>
          <p:cNvPr id="3" name="Picture 2" descr="A close-up of a tomato&#10;&#10;Description automatically generated">
            <a:extLst>
              <a:ext uri="{FF2B5EF4-FFF2-40B4-BE49-F238E27FC236}">
                <a16:creationId xmlns:a16="http://schemas.microsoft.com/office/drawing/2014/main" id="{00E5E710-9879-3BC3-3718-5C047B095D0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12" r="17971"/>
          <a:stretch/>
        </p:blipFill>
        <p:spPr>
          <a:xfrm>
            <a:off x="838200" y="1525301"/>
            <a:ext cx="4813570" cy="355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686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1B1255-3EF2-B5DB-6839-E04B1703D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66" y="2528290"/>
            <a:ext cx="2534004" cy="1295581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CCFC3BEC-86F0-259D-7EA4-2A5DA34C8DFB}"/>
              </a:ext>
            </a:extLst>
          </p:cNvPr>
          <p:cNvSpPr txBox="1">
            <a:spLocks/>
          </p:cNvSpPr>
          <p:nvPr/>
        </p:nvSpPr>
        <p:spPr>
          <a:xfrm>
            <a:off x="838200" y="1691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2. GIỚI THIỆU ĐỀ TÀI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5F4EE64-401A-973E-F49C-30EF7F7919B7}"/>
              </a:ext>
            </a:extLst>
          </p:cNvPr>
          <p:cNvSpPr>
            <a:spLocks noGrp="1"/>
          </p:cNvSpPr>
          <p:nvPr/>
        </p:nvSpPr>
        <p:spPr>
          <a:xfrm>
            <a:off x="958567" y="1076380"/>
            <a:ext cx="10274865" cy="35527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dirty="0" err="1">
                <a:latin typeface="iCiel Gotham Ultra" pitchFamily="50" charset="0"/>
                <a:ea typeface="Times New Roman" panose="02020603050405020304" pitchFamily="18" charset="0"/>
                <a:cs typeface="iCiel Gotham Ultra" pitchFamily="50" charset="0"/>
              </a:rPr>
              <a:t>Mục</a:t>
            </a:r>
            <a:r>
              <a:rPr lang="en-US" dirty="0">
                <a:latin typeface="iCiel Gotham Ultra" pitchFamily="50" charset="0"/>
                <a:ea typeface="Times New Roman" panose="02020603050405020304" pitchFamily="18" charset="0"/>
                <a:cs typeface="iCiel Gotham Ultra" pitchFamily="50" charset="0"/>
              </a:rPr>
              <a:t> </a:t>
            </a:r>
            <a:r>
              <a:rPr lang="en-US" dirty="0" err="1">
                <a:latin typeface="iCiel Gotham Ultra" pitchFamily="50" charset="0"/>
                <a:ea typeface="Times New Roman" panose="02020603050405020304" pitchFamily="18" charset="0"/>
                <a:cs typeface="iCiel Gotham Ultra" pitchFamily="50" charset="0"/>
              </a:rPr>
              <a:t>tiêu</a:t>
            </a:r>
            <a:r>
              <a:rPr lang="en-US" dirty="0">
                <a:latin typeface="iCiel Gotham Ultra" pitchFamily="50" charset="0"/>
                <a:ea typeface="Times New Roman" panose="02020603050405020304" pitchFamily="18" charset="0"/>
                <a:cs typeface="iCiel Gotham Ultra" pitchFamily="50" charset="0"/>
              </a:rPr>
              <a:t> </a:t>
            </a:r>
            <a:r>
              <a:rPr lang="en-US" dirty="0" err="1">
                <a:latin typeface="iCiel Gotham Ultra" pitchFamily="50" charset="0"/>
                <a:ea typeface="Times New Roman" panose="02020603050405020304" pitchFamily="18" charset="0"/>
                <a:cs typeface="iCiel Gotham Ultra" pitchFamily="50" charset="0"/>
              </a:rPr>
              <a:t>đề</a:t>
            </a:r>
            <a:r>
              <a:rPr lang="en-US" dirty="0">
                <a:latin typeface="iCiel Gotham Ultra" pitchFamily="50" charset="0"/>
                <a:ea typeface="Times New Roman" panose="02020603050405020304" pitchFamily="18" charset="0"/>
                <a:cs typeface="iCiel Gotham Ultra" pitchFamily="50" charset="0"/>
              </a:rPr>
              <a:t> </a:t>
            </a:r>
            <a:r>
              <a:rPr lang="en-US" dirty="0" err="1">
                <a:latin typeface="iCiel Gotham Ultra" pitchFamily="50" charset="0"/>
                <a:ea typeface="Times New Roman" panose="02020603050405020304" pitchFamily="18" charset="0"/>
                <a:cs typeface="iCiel Gotham Ultra" pitchFamily="50" charset="0"/>
              </a:rPr>
              <a:t>tài</a:t>
            </a:r>
            <a:r>
              <a:rPr lang="en-US" dirty="0">
                <a:latin typeface="iCiel Gotham Ultra" pitchFamily="50" charset="0"/>
                <a:ea typeface="Times New Roman" panose="02020603050405020304" pitchFamily="18" charset="0"/>
                <a:cs typeface="iCiel Gotham Ultra" pitchFamily="50" charset="0"/>
              </a:rPr>
              <a:t>: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Xây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dựng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hệ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thống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phát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hiện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đám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cháy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theo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thời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gian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thực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với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YOLO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Tích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hợp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hệ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thống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lên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nền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tảng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web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để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giám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sát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,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cảnh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báo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và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quản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lý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từ</a:t>
            </a:r>
            <a:r>
              <a:rPr lang="en-US" dirty="0"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cs typeface="iCiel Gotham Medium" pitchFamily="50" charset="0"/>
              </a:rPr>
              <a:t>xa</a:t>
            </a:r>
            <a:endParaRPr lang="en-US" dirty="0">
              <a:latin typeface="iCiel Gotham Medium" pitchFamily="50" charset="0"/>
              <a:cs typeface="iCiel Gotham Medium" pitchFamily="50" charset="0"/>
            </a:endParaRPr>
          </a:p>
          <a:p>
            <a:pPr>
              <a:spcBef>
                <a:spcPts val="600"/>
              </a:spcBef>
            </a:pPr>
            <a:r>
              <a:rPr lang="en-US" dirty="0" err="1">
                <a:latin typeface="iCiel Gotham Ultra" pitchFamily="50" charset="0"/>
                <a:cs typeface="iCiel Gotham Ultra" pitchFamily="50" charset="0"/>
              </a:rPr>
              <a:t>Đối</a:t>
            </a:r>
            <a:r>
              <a:rPr lang="en-US" dirty="0">
                <a:latin typeface="iCiel Gotham Ultra" pitchFamily="50" charset="0"/>
                <a:cs typeface="iCiel Gotham Ultra" pitchFamily="50" charset="0"/>
              </a:rPr>
              <a:t> </a:t>
            </a:r>
            <a:r>
              <a:rPr lang="en-US" dirty="0" err="1">
                <a:latin typeface="iCiel Gotham Ultra" pitchFamily="50" charset="0"/>
                <a:cs typeface="iCiel Gotham Ultra" pitchFamily="50" charset="0"/>
              </a:rPr>
              <a:t>tượng</a:t>
            </a:r>
            <a:r>
              <a:rPr lang="en-US" dirty="0">
                <a:latin typeface="iCiel Gotham Ultra" pitchFamily="50" charset="0"/>
                <a:cs typeface="iCiel Gotham Ultra" pitchFamily="50" charset="0"/>
              </a:rPr>
              <a:t> </a:t>
            </a:r>
            <a:r>
              <a:rPr lang="en-US" dirty="0" err="1">
                <a:latin typeface="iCiel Gotham Ultra" pitchFamily="50" charset="0"/>
                <a:cs typeface="iCiel Gotham Ultra" pitchFamily="50" charset="0"/>
              </a:rPr>
              <a:t>và</a:t>
            </a:r>
            <a:r>
              <a:rPr lang="en-US" dirty="0">
                <a:latin typeface="iCiel Gotham Ultra" pitchFamily="50" charset="0"/>
                <a:cs typeface="iCiel Gotham Ultra" pitchFamily="50" charset="0"/>
              </a:rPr>
              <a:t> </a:t>
            </a:r>
            <a:r>
              <a:rPr lang="en-US" dirty="0" err="1">
                <a:latin typeface="iCiel Gotham Ultra" pitchFamily="50" charset="0"/>
                <a:cs typeface="iCiel Gotham Ultra" pitchFamily="50" charset="0"/>
              </a:rPr>
              <a:t>phạm</a:t>
            </a:r>
            <a:r>
              <a:rPr lang="en-US" dirty="0">
                <a:latin typeface="iCiel Gotham Ultra" pitchFamily="50" charset="0"/>
                <a:cs typeface="iCiel Gotham Ultra" pitchFamily="50" charset="0"/>
              </a:rPr>
              <a:t> vi </a:t>
            </a:r>
            <a:r>
              <a:rPr lang="en-US" dirty="0" err="1">
                <a:latin typeface="iCiel Gotham Ultra" pitchFamily="50" charset="0"/>
                <a:cs typeface="iCiel Gotham Ultra" pitchFamily="50" charset="0"/>
              </a:rPr>
              <a:t>đề</a:t>
            </a:r>
            <a:r>
              <a:rPr lang="en-US" dirty="0">
                <a:latin typeface="iCiel Gotham Ultra" pitchFamily="50" charset="0"/>
                <a:cs typeface="iCiel Gotham Ultra" pitchFamily="50" charset="0"/>
              </a:rPr>
              <a:t> </a:t>
            </a:r>
            <a:r>
              <a:rPr lang="en-US" dirty="0" err="1">
                <a:latin typeface="iCiel Gotham Ultra" pitchFamily="50" charset="0"/>
                <a:cs typeface="iCiel Gotham Ultra" pitchFamily="50" charset="0"/>
              </a:rPr>
              <a:t>tài</a:t>
            </a:r>
            <a:r>
              <a:rPr lang="en-US" dirty="0">
                <a:latin typeface="iCiel Gotham Ultra" pitchFamily="50" charset="0"/>
                <a:cs typeface="iCiel Gotham Ultra" pitchFamily="50" charset="0"/>
              </a:rPr>
              <a:t>: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  <a:latin typeface="iCiel Gotham Medium" pitchFamily="50" charset="0"/>
                <a:cs typeface="iCiel Gotham Medium" pitchFamily="50" charset="0"/>
              </a:rPr>
              <a:t>Sử</a:t>
            </a:r>
            <a:r>
              <a:rPr lang="en-US" b="0" i="0" dirty="0">
                <a:effectLst/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b="0" i="0" dirty="0" err="1">
                <a:effectLst/>
                <a:latin typeface="iCiel Gotham Medium" pitchFamily="50" charset="0"/>
                <a:cs typeface="iCiel Gotham Medium" pitchFamily="50" charset="0"/>
              </a:rPr>
              <a:t>dụng</a:t>
            </a:r>
            <a:r>
              <a:rPr lang="en-US" b="0" i="0" dirty="0">
                <a:effectLst/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b="0" i="0" dirty="0" err="1">
                <a:effectLst/>
                <a:latin typeface="iCiel Gotham Medium" pitchFamily="50" charset="0"/>
                <a:cs typeface="iCiel Gotham Medium" pitchFamily="50" charset="0"/>
              </a:rPr>
              <a:t>các</a:t>
            </a:r>
            <a:r>
              <a:rPr lang="en-US" b="0" i="0" dirty="0">
                <a:effectLst/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b="0" i="0" dirty="0" err="1">
                <a:effectLst/>
                <a:latin typeface="iCiel Gotham Medium" pitchFamily="50" charset="0"/>
                <a:cs typeface="iCiel Gotham Medium" pitchFamily="50" charset="0"/>
              </a:rPr>
              <a:t>phiên</a:t>
            </a:r>
            <a:r>
              <a:rPr lang="en-US" b="0" i="0" dirty="0">
                <a:effectLst/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b="0" i="0" dirty="0" err="1">
                <a:effectLst/>
                <a:latin typeface="iCiel Gotham Medium" pitchFamily="50" charset="0"/>
                <a:cs typeface="iCiel Gotham Medium" pitchFamily="50" charset="0"/>
              </a:rPr>
              <a:t>bản</a:t>
            </a:r>
            <a:r>
              <a:rPr lang="en-US" b="0" i="0" dirty="0">
                <a:effectLst/>
                <a:latin typeface="iCiel Gotham Medium" pitchFamily="50" charset="0"/>
                <a:cs typeface="iCiel Gotham Medium" pitchFamily="50" charset="0"/>
              </a:rPr>
              <a:t> YOLO (v8, v10, v11) </a:t>
            </a:r>
            <a:r>
              <a:rPr lang="en-US" b="0" i="0" dirty="0" err="1">
                <a:effectLst/>
                <a:latin typeface="iCiel Gotham Medium" pitchFamily="50" charset="0"/>
                <a:cs typeface="iCiel Gotham Medium" pitchFamily="50" charset="0"/>
              </a:rPr>
              <a:t>để</a:t>
            </a:r>
            <a:r>
              <a:rPr lang="en-US" b="0" i="0" dirty="0">
                <a:effectLst/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b="0" i="0" dirty="0" err="1">
                <a:effectLst/>
                <a:latin typeface="iCiel Gotham Medium" pitchFamily="50" charset="0"/>
                <a:cs typeface="iCiel Gotham Medium" pitchFamily="50" charset="0"/>
              </a:rPr>
              <a:t>nhận</a:t>
            </a:r>
            <a:r>
              <a:rPr lang="en-US" b="0" i="0" dirty="0">
                <a:effectLst/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b="0" i="0" dirty="0" err="1">
                <a:effectLst/>
                <a:latin typeface="iCiel Gotham Medium" pitchFamily="50" charset="0"/>
                <a:cs typeface="iCiel Gotham Medium" pitchFamily="50" charset="0"/>
              </a:rPr>
              <a:t>diện</a:t>
            </a:r>
            <a:r>
              <a:rPr lang="en-US" b="0" i="0" dirty="0">
                <a:effectLst/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b="0" i="0" dirty="0" err="1">
                <a:effectLst/>
                <a:latin typeface="iCiel Gotham Medium" pitchFamily="50" charset="0"/>
                <a:cs typeface="iCiel Gotham Medium" pitchFamily="50" charset="0"/>
              </a:rPr>
              <a:t>lửa</a:t>
            </a:r>
            <a:r>
              <a:rPr lang="en-US" b="0" i="0" dirty="0">
                <a:effectLst/>
                <a:latin typeface="iCiel Gotham Medium" pitchFamily="50" charset="0"/>
                <a:cs typeface="iCiel Gotham Medium" pitchFamily="50" charset="0"/>
              </a:rPr>
              <a:t> qua </a:t>
            </a:r>
            <a:r>
              <a:rPr lang="en-US" b="0" i="0" dirty="0" err="1">
                <a:effectLst/>
                <a:latin typeface="iCiel Gotham Medium" pitchFamily="50" charset="0"/>
                <a:cs typeface="iCiel Gotham Medium" pitchFamily="50" charset="0"/>
              </a:rPr>
              <a:t>ảnh</a:t>
            </a:r>
            <a:r>
              <a:rPr lang="en-US" b="0" i="0" dirty="0">
                <a:effectLst/>
                <a:latin typeface="iCiel Gotham Medium" pitchFamily="50" charset="0"/>
                <a:cs typeface="iCiel Gotham Medium" pitchFamily="50" charset="0"/>
              </a:rPr>
              <a:t>, video </a:t>
            </a:r>
            <a:r>
              <a:rPr lang="en-US" b="0" i="0" dirty="0" err="1">
                <a:effectLst/>
                <a:latin typeface="iCiel Gotham Medium" pitchFamily="50" charset="0"/>
                <a:cs typeface="iCiel Gotham Medium" pitchFamily="50" charset="0"/>
              </a:rPr>
              <a:t>từ</a:t>
            </a:r>
            <a:r>
              <a:rPr lang="en-US" b="0" i="0" dirty="0">
                <a:effectLst/>
                <a:latin typeface="iCiel Gotham Medium" pitchFamily="50" charset="0"/>
                <a:cs typeface="iCiel Gotham Medium" pitchFamily="50" charset="0"/>
              </a:rPr>
              <a:t> camera </a:t>
            </a:r>
            <a:r>
              <a:rPr lang="en-US" b="0" i="0" dirty="0" err="1">
                <a:effectLst/>
                <a:latin typeface="iCiel Gotham Medium" pitchFamily="50" charset="0"/>
                <a:cs typeface="iCiel Gotham Medium" pitchFamily="50" charset="0"/>
              </a:rPr>
              <a:t>giám</a:t>
            </a:r>
            <a:r>
              <a:rPr lang="en-US" b="0" i="0" dirty="0">
                <a:effectLst/>
                <a:latin typeface="iCiel Gotham Medium" pitchFamily="50" charset="0"/>
                <a:cs typeface="iCiel Gotham Medium" pitchFamily="50" charset="0"/>
              </a:rPr>
              <a:t> </a:t>
            </a:r>
            <a:r>
              <a:rPr lang="en-US" b="0" i="0" dirty="0" err="1">
                <a:effectLst/>
                <a:latin typeface="iCiel Gotham Medium" pitchFamily="50" charset="0"/>
                <a:cs typeface="iCiel Gotham Medium" pitchFamily="50" charset="0"/>
              </a:rPr>
              <a:t>sát</a:t>
            </a:r>
            <a:endParaRPr lang="en-US" b="0" i="0" dirty="0">
              <a:effectLst/>
              <a:latin typeface="iCiel Gotham Medium" pitchFamily="50" charset="0"/>
              <a:cs typeface="iCiel Gotham Medium" pitchFamily="50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ập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trung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vào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phát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hiện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đám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cháy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trong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môi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trường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trong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nhà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và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các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khu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vực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giám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sát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có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lắp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đặt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camera</a:t>
            </a:r>
            <a:endParaRPr lang="en-US" dirty="0"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Hệ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thống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thử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nghiệm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với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các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tập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dữ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liệu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hình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ảnh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, video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mô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phỏng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các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tình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huống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cháy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thực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tế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,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chủ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yếu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là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các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trường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hợp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lửa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xuất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hiện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rõ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ràng</a:t>
            </a:r>
            <a:endParaRPr lang="en-US" b="0" i="0" dirty="0">
              <a:effectLst/>
              <a:latin typeface="iCiel Gotham Medium" pitchFamily="50" charset="0"/>
              <a:cs typeface="iCiel Gotham Medium" pitchFamily="50" charset="0"/>
            </a:endParaRPr>
          </a:p>
          <a:p>
            <a:pPr>
              <a:spcBef>
                <a:spcPts val="600"/>
              </a:spcBef>
            </a:pPr>
            <a:endParaRPr lang="en-US" b="1" dirty="0">
              <a:effectLst/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3911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1B1255-3EF2-B5DB-6839-E04B1703D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66" y="2528290"/>
            <a:ext cx="2534004" cy="1295581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CCFC3BEC-86F0-259D-7EA4-2A5DA34C8DFB}"/>
              </a:ext>
            </a:extLst>
          </p:cNvPr>
          <p:cNvSpPr txBox="1">
            <a:spLocks/>
          </p:cNvSpPr>
          <p:nvPr/>
        </p:nvSpPr>
        <p:spPr>
          <a:xfrm>
            <a:off x="838200" y="1691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3. CÔNG CỤ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03714E-0ACD-3B69-E94B-4312F9F02C1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6" t="12404" r="50905" b="14474"/>
          <a:stretch/>
        </p:blipFill>
        <p:spPr>
          <a:xfrm>
            <a:off x="1292168" y="831887"/>
            <a:ext cx="2899359" cy="2734601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D63E0FC-305C-30AE-BEC1-417788A23EA2}"/>
              </a:ext>
            </a:extLst>
          </p:cNvPr>
          <p:cNvSpPr>
            <a:spLocks noGrp="1"/>
          </p:cNvSpPr>
          <p:nvPr/>
        </p:nvSpPr>
        <p:spPr>
          <a:xfrm>
            <a:off x="5762399" y="1108556"/>
            <a:ext cx="5732915" cy="52907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400"/>
              </a:spcBef>
            </a:pPr>
            <a:r>
              <a:rPr lang="en-US" b="1" dirty="0">
                <a:solidFill>
                  <a:srgbClr val="1F5CAA"/>
                </a:solidFill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Front-end:</a:t>
            </a:r>
          </a:p>
          <a:p>
            <a:pPr marL="342900" indent="-3429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HTML5, CSS3, JavaScript</a:t>
            </a:r>
          </a:p>
          <a:p>
            <a:pPr marL="342900" indent="-3429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Bootstrap 5</a:t>
            </a:r>
          </a:p>
          <a:p>
            <a:pPr>
              <a:spcBef>
                <a:spcPts val="2400"/>
              </a:spcBef>
            </a:pPr>
            <a:r>
              <a:rPr lang="en-US" b="1" dirty="0">
                <a:solidFill>
                  <a:srgbClr val="1F5CAA"/>
                </a:solidFill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Back-end:</a:t>
            </a:r>
          </a:p>
          <a:p>
            <a:pPr marL="342900" indent="-3429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Python 3.9.13</a:t>
            </a:r>
          </a:p>
          <a:p>
            <a:pPr marL="342900" indent="-3429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Flask 3.1.1</a:t>
            </a:r>
          </a:p>
          <a:p>
            <a:pPr>
              <a:spcBef>
                <a:spcPts val="2400"/>
              </a:spcBef>
            </a:pPr>
            <a:r>
              <a:rPr lang="en-US" b="1" dirty="0" err="1">
                <a:solidFill>
                  <a:srgbClr val="1F5CAA"/>
                </a:solidFill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Cơ</a:t>
            </a:r>
            <a:r>
              <a:rPr lang="en-US" b="1" dirty="0">
                <a:solidFill>
                  <a:srgbClr val="1F5CAA"/>
                </a:solidFill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b="1" dirty="0" err="1">
                <a:solidFill>
                  <a:srgbClr val="1F5CAA"/>
                </a:solidFill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sở</a:t>
            </a:r>
            <a:r>
              <a:rPr lang="en-US" b="1" dirty="0">
                <a:solidFill>
                  <a:srgbClr val="1F5CAA"/>
                </a:solidFill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b="1" dirty="0" err="1">
                <a:solidFill>
                  <a:srgbClr val="1F5CAA"/>
                </a:solidFill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dữ</a:t>
            </a:r>
            <a:r>
              <a:rPr lang="en-US" b="1" dirty="0">
                <a:solidFill>
                  <a:srgbClr val="1F5CAA"/>
                </a:solidFill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b="1" dirty="0" err="1">
                <a:solidFill>
                  <a:srgbClr val="1F5CAA"/>
                </a:solidFill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liệu</a:t>
            </a:r>
            <a:r>
              <a:rPr lang="en-US" b="1" dirty="0">
                <a:solidFill>
                  <a:srgbClr val="1F5CAA"/>
                </a:solidFill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:</a:t>
            </a:r>
            <a:endParaRPr lang="en-US" b="1" dirty="0">
              <a:solidFill>
                <a:srgbClr val="1F5CAA"/>
              </a:solidFill>
              <a:effectLst/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  <a:p>
            <a:pPr marL="342900" indent="-3429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b="1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Postgresql</a:t>
            </a:r>
            <a:r>
              <a:rPr lang="en-US" b="1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16.9</a:t>
            </a:r>
            <a:endParaRPr lang="en-US" b="1" dirty="0">
              <a:effectLst/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9AFB04-A049-8BE5-701D-887C3EF26DA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86" t="12404" r="6005" b="14474"/>
          <a:stretch/>
        </p:blipFill>
        <p:spPr>
          <a:xfrm>
            <a:off x="1292167" y="3664704"/>
            <a:ext cx="2899359" cy="273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949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1B1255-3EF2-B5DB-6839-E04B1703D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66" y="2528290"/>
            <a:ext cx="2534004" cy="1295581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CCFC3BEC-86F0-259D-7EA4-2A5DA34C8DFB}"/>
              </a:ext>
            </a:extLst>
          </p:cNvPr>
          <p:cNvSpPr txBox="1">
            <a:spLocks/>
          </p:cNvSpPr>
          <p:nvPr/>
        </p:nvSpPr>
        <p:spPr>
          <a:xfrm>
            <a:off x="838200" y="1691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4.1. KIẾN TRÚC TỔNG QUÁT HỆ THỐNG</a:t>
            </a:r>
          </a:p>
        </p:txBody>
      </p:sp>
      <p:pic>
        <p:nvPicPr>
          <p:cNvPr id="15" name="Picture 14" descr="A diagram of a computer network&#10;&#10;Description automatically generated">
            <a:extLst>
              <a:ext uri="{FF2B5EF4-FFF2-40B4-BE49-F238E27FC236}">
                <a16:creationId xmlns:a16="http://schemas.microsoft.com/office/drawing/2014/main" id="{32BD3059-E10D-C6CC-143B-3728093B8A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7576" y="1120617"/>
            <a:ext cx="6176847" cy="540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030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1B1255-3EF2-B5DB-6839-E04B1703D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66" y="2528290"/>
            <a:ext cx="2534004" cy="1295581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CCFC3BEC-86F0-259D-7EA4-2A5DA34C8DFB}"/>
              </a:ext>
            </a:extLst>
          </p:cNvPr>
          <p:cNvSpPr txBox="1">
            <a:spLocks/>
          </p:cNvSpPr>
          <p:nvPr/>
        </p:nvSpPr>
        <p:spPr>
          <a:xfrm>
            <a:off x="838199" y="1691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4.2. MÔ TẢ TẬP DỮ LIỆU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468D4B7-04A6-1732-0ADC-CBFA3BCE6CFA}"/>
              </a:ext>
            </a:extLst>
          </p:cNvPr>
          <p:cNvSpPr>
            <a:spLocks noGrp="1"/>
          </p:cNvSpPr>
          <p:nvPr/>
        </p:nvSpPr>
        <p:spPr>
          <a:xfrm>
            <a:off x="1010447" y="1399701"/>
            <a:ext cx="10171103" cy="35527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spcBef>
                <a:spcPts val="600"/>
              </a:spcBef>
            </a:pP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Tập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dữ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liệu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gồm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2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tập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: 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hlinkClick r:id="rId3"/>
              </a:rPr>
              <a:t>Fire Detection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trên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Kaggle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và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bộ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dữ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liệu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 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  <a:hlinkClick r:id="rId4"/>
              </a:rPr>
              <a:t>Fire Source Detection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 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trên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Roboflow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Universe.</a:t>
            </a:r>
          </a:p>
        </p:txBody>
      </p:sp>
      <p:pic>
        <p:nvPicPr>
          <p:cNvPr id="5" name="Picture 4" descr="A diagram of a data set&#10;&#10;Description automatically generated">
            <a:extLst>
              <a:ext uri="{FF2B5EF4-FFF2-40B4-BE49-F238E27FC236}">
                <a16:creationId xmlns:a16="http://schemas.microsoft.com/office/drawing/2014/main" id="{64F13B43-9CA3-AAD0-6D1A-8AEE9CA0F4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470" y="2686064"/>
            <a:ext cx="8547059" cy="360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871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1B1255-3EF2-B5DB-6839-E04B1703D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66" y="2528290"/>
            <a:ext cx="2534004" cy="1295581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CCFC3BEC-86F0-259D-7EA4-2A5DA34C8DFB}"/>
              </a:ext>
            </a:extLst>
          </p:cNvPr>
          <p:cNvSpPr txBox="1">
            <a:spLocks/>
          </p:cNvSpPr>
          <p:nvPr/>
        </p:nvSpPr>
        <p:spPr>
          <a:xfrm>
            <a:off x="838199" y="1691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4.2. MÔ TẢ TẬP DỮ LIỆU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04E6C1-EACC-E5F5-62AD-718195E27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034135"/>
            <a:ext cx="4791850" cy="29143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D5E746-0A49-F463-9BAA-EDA6464BA4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4383" y="2034135"/>
            <a:ext cx="5059416" cy="2914342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B7EADEE-6366-6AD6-93BE-D9DD3CB4621D}"/>
              </a:ext>
            </a:extLst>
          </p:cNvPr>
          <p:cNvSpPr>
            <a:spLocks noGrp="1"/>
          </p:cNvSpPr>
          <p:nvPr/>
        </p:nvSpPr>
        <p:spPr>
          <a:xfrm>
            <a:off x="658238" y="5385019"/>
            <a:ext cx="10875523" cy="6402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en-US" b="1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Một</a:t>
            </a:r>
            <a:r>
              <a:rPr lang="en-US" b="1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b="1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số</a:t>
            </a:r>
            <a:r>
              <a:rPr lang="en-US" b="1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b="1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hình</a:t>
            </a:r>
            <a:r>
              <a:rPr lang="en-US" b="1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b="1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ảnh</a:t>
            </a:r>
            <a:r>
              <a:rPr lang="en-US" b="1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b="1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trong</a:t>
            </a:r>
            <a:r>
              <a:rPr lang="en-US" b="1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b="1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tập</a:t>
            </a:r>
            <a:r>
              <a:rPr lang="en-US" b="1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b="1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dữ</a:t>
            </a:r>
            <a:r>
              <a:rPr lang="en-US" b="1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b="1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liệu</a:t>
            </a:r>
            <a:endParaRPr lang="en-US" b="1" dirty="0">
              <a:effectLst/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370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1B1255-3EF2-B5DB-6839-E04B1703D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66" y="2528290"/>
            <a:ext cx="2534004" cy="1295581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CCFC3BEC-86F0-259D-7EA4-2A5DA34C8DFB}"/>
              </a:ext>
            </a:extLst>
          </p:cNvPr>
          <p:cNvSpPr txBox="1">
            <a:spLocks/>
          </p:cNvSpPr>
          <p:nvPr/>
        </p:nvSpPr>
        <p:spPr>
          <a:xfrm>
            <a:off x="838200" y="1691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4.3. HUẤN LUYỆN MÔ HÌNH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468D4B7-04A6-1732-0ADC-CBFA3BCE6CFA}"/>
              </a:ext>
            </a:extLst>
          </p:cNvPr>
          <p:cNvSpPr>
            <a:spLocks noGrp="1"/>
          </p:cNvSpPr>
          <p:nvPr/>
        </p:nvSpPr>
        <p:spPr>
          <a:xfrm>
            <a:off x="597466" y="1525300"/>
            <a:ext cx="10515600" cy="4690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Huấn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luyện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mô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hình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YOLO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với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nhiều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phiên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bản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khác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nhau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: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YOLOv8: YOLOv8n, YOLOv8s, YOLOv8m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YOLOv10: YOLOv10n, YOLOv10s, YOLOv10m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YOLOv11: YOLOv11n, YOLOv11s, YOLOv11m</a:t>
            </a:r>
          </a:p>
          <a:p>
            <a:pPr>
              <a:spcBef>
                <a:spcPts val="600"/>
              </a:spcBef>
            </a:pP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Giải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thích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mô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hình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: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 (nano):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là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phiên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bản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dành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cho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môi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trường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có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tài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nguyên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hạn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chế</a:t>
            </a:r>
            <a:endParaRPr lang="en-US" dirty="0"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s (small):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là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phiên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bản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nhỏ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,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cân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bằng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tốc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độ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và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độ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chính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xác</a:t>
            </a:r>
            <a:endParaRPr lang="en-US" dirty="0"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m (medium):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là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phiên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bản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trung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bình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dành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cho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mục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đích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sử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dụng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chung</a:t>
            </a:r>
            <a:endParaRPr lang="en-US" dirty="0">
              <a:effectLst/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  <a:p>
            <a:pPr>
              <a:spcBef>
                <a:spcPts val="600"/>
              </a:spcBef>
            </a:pPr>
            <a:endParaRPr lang="en-US" dirty="0">
              <a:effectLst/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758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1B1255-3EF2-B5DB-6839-E04B1703D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66" y="2528290"/>
            <a:ext cx="2534004" cy="1295581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CCFC3BEC-86F0-259D-7EA4-2A5DA34C8DFB}"/>
              </a:ext>
            </a:extLst>
          </p:cNvPr>
          <p:cNvSpPr txBox="1">
            <a:spLocks/>
          </p:cNvSpPr>
          <p:nvPr/>
        </p:nvSpPr>
        <p:spPr>
          <a:xfrm>
            <a:off x="838200" y="1691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4.3. HUẤN LUYỆN MÔ HÌNH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468D4B7-04A6-1732-0ADC-CBFA3BCE6CFA}"/>
              </a:ext>
            </a:extLst>
          </p:cNvPr>
          <p:cNvSpPr>
            <a:spLocks noGrp="1"/>
          </p:cNvSpPr>
          <p:nvPr/>
        </p:nvSpPr>
        <p:spPr>
          <a:xfrm>
            <a:off x="597466" y="1525300"/>
            <a:ext cx="10515600" cy="4194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600"/>
              </a:spcBef>
            </a:pP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Các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mô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hình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được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huấn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luyện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trên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Kaggle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bằng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GPU T4x2 (Python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phiên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bản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3.11.11)</a:t>
            </a:r>
          </a:p>
          <a:p>
            <a:pPr algn="l">
              <a:spcBef>
                <a:spcPts val="600"/>
              </a:spcBef>
            </a:pP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Thông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số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huấn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luyện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mô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hình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:</a:t>
            </a: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Epoch: 100</a:t>
            </a: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Batchsize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: 48</a:t>
            </a: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Imgsz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: 640</a:t>
            </a: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Patience: 10</a:t>
            </a: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>
              <a:effectLst/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>
              <a:effectLst/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5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1B1255-3EF2-B5DB-6839-E04B1703D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66" y="2528290"/>
            <a:ext cx="2534004" cy="1295581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CCFC3BEC-86F0-259D-7EA4-2A5DA34C8DFB}"/>
              </a:ext>
            </a:extLst>
          </p:cNvPr>
          <p:cNvSpPr txBox="1">
            <a:spLocks/>
          </p:cNvSpPr>
          <p:nvPr/>
        </p:nvSpPr>
        <p:spPr>
          <a:xfrm>
            <a:off x="838200" y="1691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4.3. HUẤN LUYỆN MÔ HÌNH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468D4B7-04A6-1732-0ADC-CBFA3BCE6CFA}"/>
              </a:ext>
            </a:extLst>
          </p:cNvPr>
          <p:cNvSpPr>
            <a:spLocks noGrp="1"/>
          </p:cNvSpPr>
          <p:nvPr/>
        </p:nvSpPr>
        <p:spPr>
          <a:xfrm>
            <a:off x="519645" y="1130838"/>
            <a:ext cx="10515600" cy="1903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Kết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quả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huấn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luyện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mô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hình</a:t>
            </a:r>
            <a:endParaRPr lang="en-US" dirty="0">
              <a:effectLst/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E7FCF87A-430F-1AE2-022B-8CB01BE42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829362"/>
              </p:ext>
            </p:extLst>
          </p:nvPr>
        </p:nvGraphicFramePr>
        <p:xfrm>
          <a:off x="142672" y="1641545"/>
          <a:ext cx="11906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248">
                  <a:extLst>
                    <a:ext uri="{9D8B030D-6E8A-4147-A177-3AD203B41FA5}">
                      <a16:colId xmlns:a16="http://schemas.microsoft.com/office/drawing/2014/main" val="2535552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618442058"/>
                    </a:ext>
                  </a:extLst>
                </a:gridCol>
                <a:gridCol w="1391920">
                  <a:extLst>
                    <a:ext uri="{9D8B030D-6E8A-4147-A177-3AD203B41FA5}">
                      <a16:colId xmlns:a16="http://schemas.microsoft.com/office/drawing/2014/main" val="148928097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79452501"/>
                    </a:ext>
                  </a:extLst>
                </a:gridCol>
                <a:gridCol w="1480766">
                  <a:extLst>
                    <a:ext uri="{9D8B030D-6E8A-4147-A177-3AD203B41FA5}">
                      <a16:colId xmlns:a16="http://schemas.microsoft.com/office/drawing/2014/main" val="2288209055"/>
                    </a:ext>
                  </a:extLst>
                </a:gridCol>
                <a:gridCol w="2075234">
                  <a:extLst>
                    <a:ext uri="{9D8B030D-6E8A-4147-A177-3AD203B41FA5}">
                      <a16:colId xmlns:a16="http://schemas.microsoft.com/office/drawing/2014/main" val="3571699432"/>
                    </a:ext>
                  </a:extLst>
                </a:gridCol>
                <a:gridCol w="2143327">
                  <a:extLst>
                    <a:ext uri="{9D8B030D-6E8A-4147-A177-3AD203B41FA5}">
                      <a16:colId xmlns:a16="http://schemas.microsoft.com/office/drawing/2014/main" val="244810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iCiel Gotham Medium" pitchFamily="50" charset="0"/>
                          <a:cs typeface="iCiel Gotham Medium" pitchFamily="50" charset="0"/>
                        </a:rPr>
                        <a:t>MÔ HÌNH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iCiel Gotham Medium" pitchFamily="50" charset="0"/>
                          <a:cs typeface="iCiel Gotham Medium" pitchFamily="50" charset="0"/>
                        </a:rPr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iCiel Gotham Medium" pitchFamily="50" charset="0"/>
                          <a:cs typeface="iCiel Gotham Medium" pitchFamily="50" charset="0"/>
                        </a:rP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iCiel Gotham Medium" pitchFamily="50" charset="0"/>
                          <a:cs typeface="iCiel Gotham Medium" pitchFamily="50" charset="0"/>
                        </a:rPr>
                        <a:t>MAP50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iCiel Gotham Medium" pitchFamily="50" charset="0"/>
                          <a:cs typeface="iCiel Gotham Medium" pitchFamily="50" charset="0"/>
                        </a:rPr>
                        <a:t>MAP50-95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iCiel Gotham Medium" pitchFamily="50" charset="0"/>
                          <a:cs typeface="iCiel Gotham Medium" pitchFamily="50" charset="0"/>
                        </a:rPr>
                        <a:t>THỜI GIAN/1 EPOCH 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iCiel Gotham Medium" pitchFamily="50" charset="0"/>
                          <a:cs typeface="iCiel Gotham Medium" pitchFamily="50" charset="0"/>
                        </a:rPr>
                        <a:t>TỔNG THỜI GIAN (GIỜ)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0876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  <a:latin typeface="iCiel Gotham Medium" pitchFamily="50" charset="0"/>
                          <a:cs typeface="iCiel Gotham Medium" pitchFamily="50" charset="0"/>
                        </a:rPr>
                        <a:t>YOLOv8n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0.95036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0.88021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0.94318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0.68583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93.6851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2.415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13769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  <a:latin typeface="iCiel Gotham Medium" pitchFamily="50" charset="0"/>
                          <a:cs typeface="iCiel Gotham Medium" pitchFamily="50" charset="0"/>
                        </a:rPr>
                        <a:t>YOLOv8s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0.95374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0.90303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0.95997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0.73927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102.259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2.726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53309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rgbClr val="FF0000"/>
                          </a:solidFill>
                          <a:latin typeface="iCiel Gotham Medium" pitchFamily="50" charset="0"/>
                          <a:cs typeface="iCiel Gotham Medium" pitchFamily="50" charset="0"/>
                        </a:rPr>
                        <a:t>YOLOv8m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FF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0.94115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FF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0.91325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FF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0.96664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FF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0.7871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FF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165.801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FF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4.555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62643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  <a:latin typeface="iCiel Gotham Medium" pitchFamily="50" charset="0"/>
                          <a:cs typeface="iCiel Gotham Medium" pitchFamily="50" charset="0"/>
                        </a:rPr>
                        <a:t>YOLOv10n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0.93841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0.82954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0.91775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0.69026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99.9925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2.303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32169429"/>
                  </a:ext>
                </a:extLst>
              </a:tr>
              <a:tr h="392725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  <a:latin typeface="iCiel Gotham Medium" pitchFamily="50" charset="0"/>
                          <a:cs typeface="iCiel Gotham Medium" pitchFamily="50" charset="0"/>
                        </a:rPr>
                        <a:t>YOLOv10s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0.95126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0.87157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0.9454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0.75206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122.07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3.354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87520152"/>
                  </a:ext>
                </a:extLst>
              </a:tr>
              <a:tr h="392725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rgbClr val="FF0000"/>
                          </a:solidFill>
                          <a:latin typeface="iCiel Gotham Medium" pitchFamily="50" charset="0"/>
                          <a:cs typeface="iCiel Gotham Medium" pitchFamily="50" charset="0"/>
                        </a:rPr>
                        <a:t>YOLOv10m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FF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0.96057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FF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0.87854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FF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0.94709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FF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0.78824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FF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202.175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FF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4.661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19904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  <a:latin typeface="iCiel Gotham Medium" pitchFamily="50" charset="0"/>
                          <a:cs typeface="iCiel Gotham Medium" pitchFamily="50" charset="0"/>
                        </a:rPr>
                        <a:t>YOLOv11n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0.94716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0.89996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0.95185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0.70195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97.6221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2.6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39688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  <a:latin typeface="iCiel Gotham Medium" pitchFamily="50" charset="0"/>
                          <a:cs typeface="iCiel Gotham Medium" pitchFamily="50" charset="0"/>
                        </a:rPr>
                        <a:t>YOLOv11s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0.96386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0.88184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0.96513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0.76482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190.169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4.21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53230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rgbClr val="FF0000"/>
                          </a:solidFill>
                          <a:latin typeface="iCiel Gotham Medium" pitchFamily="50" charset="0"/>
                          <a:cs typeface="iCiel Gotham Medium" pitchFamily="50" charset="0"/>
                        </a:rPr>
                        <a:t>YOLOv11m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FF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0.95764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FF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0.91239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FF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0.96538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FF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0.79031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FF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182.482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FF0000"/>
                          </a:solidFill>
                          <a:effectLst/>
                          <a:latin typeface="iCiel Gotham Medium" pitchFamily="50" charset="0"/>
                          <a:cs typeface="iCiel Gotham Medium" pitchFamily="50" charset="0"/>
                        </a:rPr>
                        <a:t>5.067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06052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6737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1B1255-3EF2-B5DB-6839-E04B1703D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66" y="2528290"/>
            <a:ext cx="2534004" cy="1295581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CCFC3BEC-86F0-259D-7EA4-2A5DA34C8DFB}"/>
              </a:ext>
            </a:extLst>
          </p:cNvPr>
          <p:cNvSpPr txBox="1">
            <a:spLocks/>
          </p:cNvSpPr>
          <p:nvPr/>
        </p:nvSpPr>
        <p:spPr>
          <a:xfrm>
            <a:off x="838200" y="1691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4.4. SƠ ĐỒ PHÂN RÃ CHỨC NĂNG</a:t>
            </a:r>
          </a:p>
        </p:txBody>
      </p:sp>
      <p:pic>
        <p:nvPicPr>
          <p:cNvPr id="4" name="Picture 3" descr="A diagram of a company&#10;&#10;Description automatically generated">
            <a:extLst>
              <a:ext uri="{FF2B5EF4-FFF2-40B4-BE49-F238E27FC236}">
                <a16:creationId xmlns:a16="http://schemas.microsoft.com/office/drawing/2014/main" id="{75BCB757-B887-37E3-ABA8-BB834CB2F1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422" y="1074736"/>
            <a:ext cx="8531157" cy="535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11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1B1255-3EF2-B5DB-6839-E04B1703D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66" y="2528290"/>
            <a:ext cx="2534004" cy="1295581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CCFC3BEC-86F0-259D-7EA4-2A5DA34C8DFB}"/>
              </a:ext>
            </a:extLst>
          </p:cNvPr>
          <p:cNvSpPr txBox="1">
            <a:spLocks/>
          </p:cNvSpPr>
          <p:nvPr/>
        </p:nvSpPr>
        <p:spPr>
          <a:xfrm>
            <a:off x="838200" y="1691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4.5. SƠ ĐỒ USECASE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468D4B7-04A6-1732-0ADC-CBFA3BCE6CFA}"/>
              </a:ext>
            </a:extLst>
          </p:cNvPr>
          <p:cNvSpPr>
            <a:spLocks noGrp="1"/>
          </p:cNvSpPr>
          <p:nvPr/>
        </p:nvSpPr>
        <p:spPr>
          <a:xfrm>
            <a:off x="838200" y="1494669"/>
            <a:ext cx="10515600" cy="4046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800"/>
              </a:spcBef>
            </a:pP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Hệ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thống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có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3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nhóm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người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dùng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chính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gồm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:</a:t>
            </a: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Người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dùng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vãng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lai</a:t>
            </a:r>
            <a:endParaRPr lang="en-US" dirty="0">
              <a:effectLst/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Người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dùng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có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tài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khoản</a:t>
            </a:r>
            <a:endParaRPr lang="en-US" dirty="0"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Quản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trị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viên</a:t>
            </a:r>
            <a:endParaRPr lang="en-US" dirty="0">
              <a:effectLst/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  <a:p>
            <a:pPr>
              <a:spcBef>
                <a:spcPts val="600"/>
              </a:spcBef>
            </a:pPr>
            <a:endParaRPr lang="en-US" dirty="0">
              <a:effectLst/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822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1B1255-3EF2-B5DB-6839-E04B1703D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66" y="2528290"/>
            <a:ext cx="2534004" cy="1295581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CCFC3BEC-86F0-259D-7EA4-2A5DA34C8DFB}"/>
              </a:ext>
            </a:extLst>
          </p:cNvPr>
          <p:cNvSpPr txBox="1">
            <a:spLocks/>
          </p:cNvSpPr>
          <p:nvPr/>
        </p:nvSpPr>
        <p:spPr>
          <a:xfrm>
            <a:off x="838200" y="1691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4.5. SƠ ĐỒ USECASE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468D4B7-04A6-1732-0ADC-CBFA3BCE6CFA}"/>
              </a:ext>
            </a:extLst>
          </p:cNvPr>
          <p:cNvSpPr>
            <a:spLocks noGrp="1"/>
          </p:cNvSpPr>
          <p:nvPr/>
        </p:nvSpPr>
        <p:spPr>
          <a:xfrm>
            <a:off x="838200" y="1006344"/>
            <a:ext cx="10515600" cy="488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Các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chức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năng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của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nhóm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người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dùng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vãng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lai</a:t>
            </a:r>
            <a:endParaRPr lang="en-US" dirty="0">
              <a:effectLst/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  <a:p>
            <a:pPr>
              <a:spcBef>
                <a:spcPts val="600"/>
              </a:spcBef>
            </a:pPr>
            <a:endParaRPr lang="en-US" dirty="0">
              <a:effectLst/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</p:txBody>
      </p:sp>
      <p:pic>
        <p:nvPicPr>
          <p:cNvPr id="4" name="Picture 3" descr="A diagram of a person with text&#10;&#10;Description automatically generated">
            <a:extLst>
              <a:ext uri="{FF2B5EF4-FFF2-40B4-BE49-F238E27FC236}">
                <a16:creationId xmlns:a16="http://schemas.microsoft.com/office/drawing/2014/main" id="{2AE2D1F6-9FEE-8521-AF15-026E2AB8A18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8" b="4537"/>
          <a:stretch/>
        </p:blipFill>
        <p:spPr>
          <a:xfrm>
            <a:off x="2907606" y="1465240"/>
            <a:ext cx="6376788" cy="508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702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1B1255-3EF2-B5DB-6839-E04B1703D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66" y="2528290"/>
            <a:ext cx="2534004" cy="1295581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CCFC3BEC-86F0-259D-7EA4-2A5DA34C8DFB}"/>
              </a:ext>
            </a:extLst>
          </p:cNvPr>
          <p:cNvSpPr txBox="1">
            <a:spLocks/>
          </p:cNvSpPr>
          <p:nvPr/>
        </p:nvSpPr>
        <p:spPr>
          <a:xfrm>
            <a:off x="838200" y="1691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4.3. SƠ ĐỒ USECASE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468D4B7-04A6-1732-0ADC-CBFA3BCE6CFA}"/>
              </a:ext>
            </a:extLst>
          </p:cNvPr>
          <p:cNvSpPr>
            <a:spLocks noGrp="1"/>
          </p:cNvSpPr>
          <p:nvPr/>
        </p:nvSpPr>
        <p:spPr>
          <a:xfrm>
            <a:off x="838200" y="1006344"/>
            <a:ext cx="10515600" cy="488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Các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chức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năng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của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nhóm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người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dùng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đã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có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tài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khoản</a:t>
            </a:r>
            <a:endParaRPr lang="en-US" dirty="0">
              <a:effectLst/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  <a:p>
            <a:pPr>
              <a:spcBef>
                <a:spcPts val="600"/>
              </a:spcBef>
            </a:pPr>
            <a:endParaRPr lang="en-US" dirty="0">
              <a:effectLst/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</p:txBody>
      </p:sp>
      <p:pic>
        <p:nvPicPr>
          <p:cNvPr id="5" name="Picture 4" descr="A diagram of a diagram&#10;&#10;Description automatically generated">
            <a:extLst>
              <a:ext uri="{FF2B5EF4-FFF2-40B4-BE49-F238E27FC236}">
                <a16:creationId xmlns:a16="http://schemas.microsoft.com/office/drawing/2014/main" id="{6DDE685F-85C2-A92C-7628-1C1B26D1FDB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7" b="2127"/>
          <a:stretch/>
        </p:blipFill>
        <p:spPr>
          <a:xfrm>
            <a:off x="2467025" y="1391438"/>
            <a:ext cx="7257949" cy="511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427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1B1255-3EF2-B5DB-6839-E04B1703D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66" y="2528290"/>
            <a:ext cx="2534004" cy="1295581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CCFC3BEC-86F0-259D-7EA4-2A5DA34C8DFB}"/>
              </a:ext>
            </a:extLst>
          </p:cNvPr>
          <p:cNvSpPr txBox="1">
            <a:spLocks/>
          </p:cNvSpPr>
          <p:nvPr/>
        </p:nvSpPr>
        <p:spPr>
          <a:xfrm>
            <a:off x="838200" y="1691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4.5. SƠ ĐỒ USECASE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468D4B7-04A6-1732-0ADC-CBFA3BCE6CFA}"/>
              </a:ext>
            </a:extLst>
          </p:cNvPr>
          <p:cNvSpPr>
            <a:spLocks noGrp="1"/>
          </p:cNvSpPr>
          <p:nvPr/>
        </p:nvSpPr>
        <p:spPr>
          <a:xfrm>
            <a:off x="838200" y="1006344"/>
            <a:ext cx="10515600" cy="488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Các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chức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năng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của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nhóm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người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dùng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quản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trị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viên</a:t>
            </a:r>
            <a:endParaRPr lang="en-US" dirty="0">
              <a:effectLst/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  <a:p>
            <a:pPr>
              <a:spcBef>
                <a:spcPts val="600"/>
              </a:spcBef>
            </a:pPr>
            <a:endParaRPr lang="en-US" dirty="0">
              <a:effectLst/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</p:txBody>
      </p:sp>
      <p:pic>
        <p:nvPicPr>
          <p:cNvPr id="4" name="Picture 3" descr="A diagram of a diagram&#10;&#10;Description automatically generated">
            <a:extLst>
              <a:ext uri="{FF2B5EF4-FFF2-40B4-BE49-F238E27FC236}">
                <a16:creationId xmlns:a16="http://schemas.microsoft.com/office/drawing/2014/main" id="{7F5F9A26-DB66-F91A-C306-63F282FDCB6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5" b="2473"/>
          <a:stretch/>
        </p:blipFill>
        <p:spPr>
          <a:xfrm>
            <a:off x="2382061" y="1427413"/>
            <a:ext cx="7427879" cy="500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8636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1B1255-3EF2-B5DB-6839-E04B1703D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66" y="2528290"/>
            <a:ext cx="2534004" cy="1295581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CCFC3BEC-86F0-259D-7EA4-2A5DA34C8DFB}"/>
              </a:ext>
            </a:extLst>
          </p:cNvPr>
          <p:cNvSpPr txBox="1">
            <a:spLocks/>
          </p:cNvSpPr>
          <p:nvPr/>
        </p:nvSpPr>
        <p:spPr>
          <a:xfrm>
            <a:off x="838199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4.6. SƠ ĐỒ THỰC THỂ LIÊN KẾT ERD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4C00A2-4A2B-1298-6D54-C4AC0CAC1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1" y="5562419"/>
            <a:ext cx="9805545" cy="12955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6BBAA7-742C-562F-769E-DAB5C6FBF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66" y="2680690"/>
            <a:ext cx="2534004" cy="12955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99A1EF-5053-CABF-6F26-1A41FDC1D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53" y="882743"/>
            <a:ext cx="11313294" cy="5882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1793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1B1255-3EF2-B5DB-6839-E04B1703D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66" y="2528290"/>
            <a:ext cx="2534004" cy="1295581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CCFC3BEC-86F0-259D-7EA4-2A5DA34C8DFB}"/>
              </a:ext>
            </a:extLst>
          </p:cNvPr>
          <p:cNvSpPr txBox="1">
            <a:spLocks/>
          </p:cNvSpPr>
          <p:nvPr/>
        </p:nvSpPr>
        <p:spPr>
          <a:xfrm>
            <a:off x="838199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4.6. SƠ ĐỒ THỰC THỂ LIÊN KẾT ERD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4C00A2-4A2B-1298-6D54-C4AC0CAC1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1" y="5562419"/>
            <a:ext cx="9805545" cy="12955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6BBAA7-742C-562F-769E-DAB5C6FBF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66" y="2680690"/>
            <a:ext cx="2534004" cy="1295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F0A8DD-7AAA-AFA3-DDB2-0FFFA7B49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933" y="918603"/>
            <a:ext cx="9446131" cy="593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0304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1B1255-3EF2-B5DB-6839-E04B1703D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52" y="2577276"/>
            <a:ext cx="2534004" cy="1295581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CCFC3BEC-86F0-259D-7EA4-2A5DA34C8DFB}"/>
              </a:ext>
            </a:extLst>
          </p:cNvPr>
          <p:cNvSpPr txBox="1">
            <a:spLocks/>
          </p:cNvSpPr>
          <p:nvPr/>
        </p:nvSpPr>
        <p:spPr>
          <a:xfrm>
            <a:off x="916021" y="-1317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5. KẾT LUẬN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468D4B7-04A6-1732-0ADC-CBFA3BCE6CFA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10515600" cy="551896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AutoNum type="arabicPeriod"/>
            </a:pP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Kết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quả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đạt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được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Xây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dựng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được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hệ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thống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web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có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khả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năng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phát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hiện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đám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cháy</a:t>
            </a:r>
            <a:endParaRPr lang="en-US" dirty="0">
              <a:effectLst/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Nắm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vững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kiến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thức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về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huấn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luyện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mô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hình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phát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hiện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vật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thể</a:t>
            </a:r>
            <a:endParaRPr lang="en-US" dirty="0"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Hiểu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được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quy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trình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xây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dựng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hệ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thống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ứng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dụng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AI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từ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dữ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liệu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đến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mô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hình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và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tích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hợp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vào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Web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Rèn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luyện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kỹ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năng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làm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việc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nhóm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, chia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nhiệm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vụ</a:t>
            </a:r>
            <a:endParaRPr lang="en-US" dirty="0"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  <a:p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2.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Hướng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phát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triển</a:t>
            </a:r>
            <a:endParaRPr lang="en-US" dirty="0"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Mở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rộng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mô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hình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để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phát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hiện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được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khói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hoặc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các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dấu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hiệu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tiềm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ẩn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sớm</a:t>
            </a:r>
            <a:endParaRPr lang="en-US" dirty="0">
              <a:effectLst/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Tìm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hiểu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,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nghiên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cứu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thêm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các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mô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hình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khác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để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cải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thiện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tốc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độ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xử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lý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và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phản</a:t>
            </a:r>
            <a:r>
              <a:rPr lang="en-US" dirty="0">
                <a:effectLst/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hồi</a:t>
            </a:r>
            <a:endParaRPr lang="en-US" dirty="0"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Xây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dựng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thêm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các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chức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năng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như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kết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nối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với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cảnh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</a:t>
            </a:r>
            <a:r>
              <a:rPr lang="en-US" dirty="0" err="1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sát</a:t>
            </a:r>
            <a:r>
              <a:rPr lang="en-US" dirty="0">
                <a:latin typeface="iCiel Gotham Medium" pitchFamily="50" charset="0"/>
                <a:ea typeface="Times New Roman" panose="02020603050405020304" pitchFamily="18" charset="0"/>
                <a:cs typeface="iCiel Gotham Medium" pitchFamily="50" charset="0"/>
              </a:rPr>
              <a:t> PCCC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effectLst/>
              <a:latin typeface="iCiel Gotham Medium" pitchFamily="50" charset="0"/>
              <a:ea typeface="Times New Roman" panose="02020603050405020304" pitchFamily="18" charset="0"/>
              <a:cs typeface="iCiel Gotham Medium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6256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59FB93-944B-DCDD-9FD3-924CCA559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68" y="2649742"/>
            <a:ext cx="1733792" cy="809738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B48BE06-3FE8-DE56-BC3B-4727EC74971F}"/>
              </a:ext>
            </a:extLst>
          </p:cNvPr>
          <p:cNvSpPr>
            <a:spLocks noGrp="1"/>
          </p:cNvSpPr>
          <p:nvPr/>
        </p:nvSpPr>
        <p:spPr>
          <a:xfrm>
            <a:off x="0" y="2278380"/>
            <a:ext cx="12192000" cy="2362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rtl="0" eaLnBrk="1" latinLnBrk="0" hangingPunct="1">
              <a:spcAft>
                <a:spcPts val="0"/>
              </a:spcAft>
            </a:pPr>
            <a:r>
              <a:rPr lang="en-US" sz="5400" b="0" i="0" kern="1200" baseline="0" dirty="0">
                <a:solidFill>
                  <a:srgbClr val="FFFFFF"/>
                </a:solidFill>
                <a:effectLst/>
                <a:latin typeface="iCiel Gotham Medium" pitchFamily="50" charset="0"/>
                <a:ea typeface="+mn-ea"/>
                <a:cs typeface="iCiel Gotham Medium" pitchFamily="50" charset="0"/>
              </a:rPr>
              <a:t>CẢM ƠN CÁC ANH VÀ CÁC BẠN</a:t>
            </a:r>
          </a:p>
          <a:p>
            <a:pPr marL="0" algn="ctr" rtl="0" eaLnBrk="1" latinLnBrk="0" hangingPunct="1">
              <a:spcAft>
                <a:spcPts val="0"/>
              </a:spcAft>
            </a:pPr>
            <a:r>
              <a:rPr lang="en-US" sz="5400" b="0" i="0" kern="1200" baseline="0" dirty="0">
                <a:solidFill>
                  <a:srgbClr val="FFFFFF"/>
                </a:solidFill>
                <a:effectLst/>
                <a:latin typeface="iCiel Gotham Medium" pitchFamily="50" charset="0"/>
                <a:ea typeface="+mn-ea"/>
                <a:cs typeface="iCiel Gotham Medium" pitchFamily="50" charset="0"/>
              </a:rPr>
              <a:t>ĐÃ LẮNG NGHE !</a:t>
            </a:r>
            <a:endParaRPr lang="en-US" sz="5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1648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1B1255-3EF2-B5DB-6839-E04B1703D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66" y="2528290"/>
            <a:ext cx="2534004" cy="1295581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CCFC3BEC-86F0-259D-7EA4-2A5DA34C8DFB}"/>
              </a:ext>
            </a:extLst>
          </p:cNvPr>
          <p:cNvSpPr txBox="1">
            <a:spLocks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pPr algn="ctr"/>
            <a:r>
              <a:rPr lang="en-US" sz="6000" dirty="0"/>
              <a:t>6. DEMO</a:t>
            </a:r>
          </a:p>
        </p:txBody>
      </p:sp>
    </p:spTree>
    <p:extLst>
      <p:ext uri="{BB962C8B-B14F-4D97-AF65-F5344CB8AC3E}">
        <p14:creationId xmlns:p14="http://schemas.microsoft.com/office/powerpoint/2010/main" val="2290785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6316</TotalTime>
  <Words>1120</Words>
  <Application>Microsoft Office PowerPoint</Application>
  <PresentationFormat>Widescreen</PresentationFormat>
  <Paragraphs>222</Paragraphs>
  <Slides>24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Readex Pro</vt:lpstr>
      <vt:lpstr>Barlow</vt:lpstr>
      <vt:lpstr>iCiel Gotham Medium</vt:lpstr>
      <vt:lpstr>Arial</vt:lpstr>
      <vt:lpstr>K2D</vt:lpstr>
      <vt:lpstr>iCiel Gotham Ultra</vt:lpstr>
      <vt:lpstr>Calibri</vt:lpstr>
      <vt:lpstr>Office Theme</vt:lpstr>
      <vt:lpstr>XÂY DỰNG HỆ THỐNG PHÁT HIỆN ĐÁM CHÁY THEO THỜI GIAN THỰC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Can Tho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PowerPointTemplate_Blank</dc:title>
  <dc:creator>CTU Media</dc:creator>
  <cp:lastModifiedBy>Phong Đào Trần Quốc</cp:lastModifiedBy>
  <cp:revision>372</cp:revision>
  <dcterms:created xsi:type="dcterms:W3CDTF">2022-07-01T08:15:51Z</dcterms:created>
  <dcterms:modified xsi:type="dcterms:W3CDTF">2025-07-01T15:42:37Z</dcterms:modified>
</cp:coreProperties>
</file>